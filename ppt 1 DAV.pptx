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056" r:id="rId1"/>
  </p:sldMasterIdLst>
  <p:notesMasterIdLst>
    <p:notesMasterId r:id="rId9"/>
  </p:notesMasterIdLst>
  <p:sldIdLst>
    <p:sldId id="256" r:id="rId2"/>
    <p:sldId id="257" r:id="rId3"/>
    <p:sldId id="258" r:id="rId4"/>
    <p:sldId id="259" r:id="rId5"/>
    <p:sldId id="260" r:id="rId6"/>
    <p:sldId id="262" r:id="rId7"/>
    <p:sldId id="261" r:id="rId8"/>
  </p:sldIdLst>
  <p:sldSz cx="14630400" cy="8229600"/>
  <p:notesSz cx="8229600" cy="14630400"/>
  <p:embeddedFontLst>
    <p:embeddedFont>
      <p:font typeface="Century Gothic" panose="020B0502020202020204" pitchFamily="34" charset="0"/>
      <p:regular r:id="rId10"/>
      <p:bold r:id="rId11"/>
      <p:italic r:id="rId12"/>
      <p:boldItalic r:id="rId13"/>
    </p:embeddedFont>
    <p:embeddedFont>
      <p:font typeface="Goudy Old Style" panose="02020502050305020303" pitchFamily="18" charset="0"/>
      <p:regular r:id="rId14"/>
      <p:bold r:id="rId15"/>
      <p:italic r:id="rId16"/>
    </p:embeddedFont>
    <p:embeddedFont>
      <p:font typeface="Heebo Light" pitchFamily="2" charset="-79"/>
      <p:regular r:id="rId17"/>
    </p:embeddedFont>
    <p:embeddedFont>
      <p:font typeface="Montserrat" panose="00000500000000000000" pitchFamily="2" charset="0"/>
      <p:regular r:id="rId18"/>
      <p:bold r:id="rId19"/>
      <p:italic r:id="rId20"/>
      <p:boldItalic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12.fntdata"/><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viewProps" Target="viewProps.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445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ctrTitle"/>
          </p:nvPr>
        </p:nvSpPr>
        <p:spPr>
          <a:xfrm>
            <a:off x="1645920" y="2164086"/>
            <a:ext cx="11338560" cy="2190115"/>
          </a:xfrm>
        </p:spPr>
        <p:txBody>
          <a:bodyPr anchor="b">
            <a:normAutofit/>
          </a:bodyPr>
          <a:lstStyle>
            <a:lvl1pPr algn="l">
              <a:defRPr sz="7200"/>
            </a:lvl1pPr>
          </a:lstStyle>
          <a:p>
            <a:r>
              <a:rPr lang="en-US"/>
              <a:t>Click to edit Master title style</a:t>
            </a:r>
            <a:endParaRPr lang="en-US" dirty="0"/>
          </a:p>
        </p:txBody>
      </p:sp>
      <p:sp>
        <p:nvSpPr>
          <p:cNvPr id="3" name="Subtitle 2"/>
          <p:cNvSpPr>
            <a:spLocks noGrp="1"/>
          </p:cNvSpPr>
          <p:nvPr>
            <p:ph type="subTitle" idx="1"/>
          </p:nvPr>
        </p:nvSpPr>
        <p:spPr>
          <a:xfrm>
            <a:off x="1645920" y="4358641"/>
            <a:ext cx="11338560" cy="822960"/>
          </a:xfrm>
        </p:spPr>
        <p:txBody>
          <a:bodyPr>
            <a:normAutofit/>
          </a:bodyPr>
          <a:lstStyle>
            <a:lvl1pPr marL="0" indent="0" algn="l">
              <a:buNone/>
              <a:defRPr sz="240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9491473" y="5177194"/>
            <a:ext cx="3493008" cy="449570"/>
          </a:xfrm>
        </p:spPr>
        <p:txBody>
          <a:bodyPr/>
          <a:lstStyle/>
          <a:p>
            <a:fld id="{6AD6EE87-EBD5-4F12-A48A-63ACA297AC8F}" type="datetimeFigureOut">
              <a:rPr lang="en-US" smtClean="0"/>
              <a:t>8/6/2025</a:t>
            </a:fld>
            <a:endParaRPr lang="en-US" dirty="0"/>
          </a:p>
        </p:txBody>
      </p:sp>
      <p:sp>
        <p:nvSpPr>
          <p:cNvPr id="5" name="Footer Placeholder 4"/>
          <p:cNvSpPr>
            <a:spLocks noGrp="1"/>
          </p:cNvSpPr>
          <p:nvPr>
            <p:ph type="ftr" sz="quarter" idx="11"/>
          </p:nvPr>
        </p:nvSpPr>
        <p:spPr>
          <a:xfrm>
            <a:off x="1645920" y="5188615"/>
            <a:ext cx="7680960" cy="438150"/>
          </a:xfrm>
        </p:spPr>
        <p:txBody>
          <a:bodyPr/>
          <a:lstStyle/>
          <a:p>
            <a:endParaRPr lang="en-US" dirty="0"/>
          </a:p>
        </p:txBody>
      </p:sp>
      <p:sp>
        <p:nvSpPr>
          <p:cNvPr id="6" name="Slide Number Placeholder 5"/>
          <p:cNvSpPr>
            <a:spLocks noGrp="1"/>
          </p:cNvSpPr>
          <p:nvPr>
            <p:ph type="sldNum" sz="quarter" idx="12"/>
          </p:nvPr>
        </p:nvSpPr>
        <p:spPr>
          <a:xfrm>
            <a:off x="9692640" y="1717040"/>
            <a:ext cx="3291840" cy="438150"/>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8519170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8/6/2025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13053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title"/>
          </p:nvPr>
        </p:nvSpPr>
        <p:spPr>
          <a:xfrm>
            <a:off x="822961" y="904240"/>
            <a:ext cx="12984479" cy="3362322"/>
          </a:xfrm>
        </p:spPr>
        <p:txBody>
          <a:bodyPr anchor="b">
            <a:normAutofit/>
          </a:bodyPr>
          <a:lstStyle>
            <a:lvl1pPr algn="r">
              <a:defRPr sz="4800"/>
            </a:lvl1pPr>
          </a:lstStyle>
          <a:p>
            <a:r>
              <a:rPr lang="en-US"/>
              <a:t>Click to edit Master title style</a:t>
            </a:r>
            <a:endParaRPr lang="en-US" dirty="0"/>
          </a:p>
        </p:txBody>
      </p:sp>
      <p:sp>
        <p:nvSpPr>
          <p:cNvPr id="3" name="Text Placeholder 2"/>
          <p:cNvSpPr>
            <a:spLocks noGrp="1"/>
          </p:cNvSpPr>
          <p:nvPr>
            <p:ph type="body" idx="1"/>
          </p:nvPr>
        </p:nvSpPr>
        <p:spPr>
          <a:xfrm>
            <a:off x="1229360" y="4370071"/>
            <a:ext cx="12588240" cy="1146810"/>
          </a:xfrm>
        </p:spPr>
        <p:txBody>
          <a:bodyPr>
            <a:normAutofit/>
          </a:bodyPr>
          <a:lstStyle>
            <a:lvl1pPr marL="0" indent="0" algn="r">
              <a:buNone/>
              <a:defRPr sz="264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9377342" y="457201"/>
            <a:ext cx="3493008" cy="438150"/>
          </a:xfrm>
        </p:spPr>
        <p:txBody>
          <a:bodyPr/>
          <a:lstStyle>
            <a:lvl1pPr algn="r">
              <a:defRPr/>
            </a:lvl1pPr>
          </a:lstStyle>
          <a:p>
            <a:fld id="{5A61015F-7CC6-4D0A-9D87-873EA4C304CC}" type="datetimeFigureOut">
              <a:rPr lang="en-US" smtClean="0"/>
              <a:t>8/6/2025</a:t>
            </a:fld>
            <a:endParaRPr lang="en-US" dirty="0"/>
          </a:p>
        </p:txBody>
      </p:sp>
      <p:sp>
        <p:nvSpPr>
          <p:cNvPr id="5" name="Footer Placeholder 4"/>
          <p:cNvSpPr>
            <a:spLocks noGrp="1"/>
          </p:cNvSpPr>
          <p:nvPr>
            <p:ph type="ftr" sz="quarter" idx="11"/>
          </p:nvPr>
        </p:nvSpPr>
        <p:spPr>
          <a:xfrm>
            <a:off x="822960" y="457202"/>
            <a:ext cx="8389790" cy="436878"/>
          </a:xfrm>
        </p:spPr>
        <p:txBody>
          <a:bodyPr/>
          <a:lstStyle/>
          <a:p>
            <a:endParaRPr lang="en-US" dirty="0"/>
          </a:p>
        </p:txBody>
      </p:sp>
      <p:sp>
        <p:nvSpPr>
          <p:cNvPr id="6" name="Slide Number Placeholder 5"/>
          <p:cNvSpPr>
            <a:spLocks noGrp="1"/>
          </p:cNvSpPr>
          <p:nvPr>
            <p:ph type="sldNum" sz="quarter" idx="12"/>
          </p:nvPr>
        </p:nvSpPr>
        <p:spPr>
          <a:xfrm>
            <a:off x="13034942" y="457201"/>
            <a:ext cx="772498" cy="438150"/>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8931798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2633471"/>
            <a:ext cx="6400800" cy="4828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406640" y="2633471"/>
            <a:ext cx="6400800" cy="4828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8/6/2025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38652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74720" y="914400"/>
            <a:ext cx="10332720" cy="155448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91" y="2620563"/>
            <a:ext cx="6095989" cy="988694"/>
          </a:xfrm>
        </p:spPr>
        <p:txBody>
          <a:bodyPr anchor="b">
            <a:normAutofit/>
          </a:bodyPr>
          <a:lstStyle>
            <a:lvl1pPr marL="0" indent="0">
              <a:buNone/>
              <a:defRPr sz="336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p:cNvSpPr>
            <a:spLocks noGrp="1"/>
          </p:cNvSpPr>
          <p:nvPr>
            <p:ph sz="half" idx="2"/>
          </p:nvPr>
        </p:nvSpPr>
        <p:spPr>
          <a:xfrm>
            <a:off x="822961" y="3759200"/>
            <a:ext cx="6374130" cy="3703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80960" y="2620563"/>
            <a:ext cx="6126480" cy="988694"/>
          </a:xfrm>
        </p:spPr>
        <p:txBody>
          <a:bodyPr anchor="b">
            <a:normAutofit/>
          </a:bodyPr>
          <a:lstStyle>
            <a:lvl1pPr marL="0" indent="0">
              <a:buNone/>
              <a:defRPr sz="336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p:cNvSpPr>
            <a:spLocks noGrp="1"/>
          </p:cNvSpPr>
          <p:nvPr>
            <p:ph sz="quarter" idx="4"/>
          </p:nvPr>
        </p:nvSpPr>
        <p:spPr>
          <a:xfrm>
            <a:off x="7406640" y="3759200"/>
            <a:ext cx="6400800" cy="37032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8/6/2025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4919201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8/6/2025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356796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8/6/2025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2233575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60" y="1828800"/>
            <a:ext cx="4937760" cy="1920240"/>
          </a:xfrm>
        </p:spPr>
        <p:txBody>
          <a:bodyPr anchor="b"/>
          <a:lstStyle>
            <a:lvl1pPr algn="l">
              <a:defRPr sz="3840"/>
            </a:lvl1pPr>
          </a:lstStyle>
          <a:p>
            <a:r>
              <a:rPr lang="en-US"/>
              <a:t>Click to edit Master title style</a:t>
            </a:r>
            <a:endParaRPr lang="en-US" dirty="0"/>
          </a:p>
        </p:txBody>
      </p:sp>
      <p:sp>
        <p:nvSpPr>
          <p:cNvPr id="3" name="Content Placeholder 2"/>
          <p:cNvSpPr>
            <a:spLocks noGrp="1"/>
          </p:cNvSpPr>
          <p:nvPr>
            <p:ph idx="1"/>
          </p:nvPr>
        </p:nvSpPr>
        <p:spPr>
          <a:xfrm>
            <a:off x="5994698" y="896111"/>
            <a:ext cx="7812742" cy="656631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2960" y="3749039"/>
            <a:ext cx="4937760" cy="3713382"/>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8/6/2025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64427409"/>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60" y="1828800"/>
            <a:ext cx="8247888" cy="1920240"/>
          </a:xfrm>
        </p:spPr>
        <p:txBody>
          <a:bodyPr anchor="b"/>
          <a:lstStyle>
            <a:lvl1pPr algn="l">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9433486" y="901490"/>
            <a:ext cx="4373954" cy="6560932"/>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822960" y="3749039"/>
            <a:ext cx="8247888" cy="3713382"/>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8/6/2025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spTree>
    <p:extLst>
      <p:ext uri="{BB962C8B-B14F-4D97-AF65-F5344CB8AC3E}">
        <p14:creationId xmlns:p14="http://schemas.microsoft.com/office/powerpoint/2010/main" val="18453291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2932" y="5636833"/>
            <a:ext cx="12986441" cy="983226"/>
          </a:xfrm>
        </p:spPr>
        <p:txBody>
          <a:bodyPr anchor="b"/>
          <a:lstStyle>
            <a:lvl1pPr algn="l">
              <a:defRPr sz="384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8072" y="1129728"/>
            <a:ext cx="12986208" cy="4173793"/>
          </a:xfrm>
        </p:spPr>
        <p:txBody>
          <a:bodyPr anchor="t"/>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822960" y="6620059"/>
            <a:ext cx="12984480" cy="842363"/>
          </a:xfrm>
        </p:spPr>
        <p:txBody>
          <a:bodyPr/>
          <a:lstStyle>
            <a:lvl1pPr marL="0" indent="0" algn="l">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90298CD5-6C1E-4009-B41F-6DF62E31D3BE}" type="datetimeFigureOut">
              <a:rPr lang="en-US" smtClean="0"/>
              <a:pPr/>
              <a:t>8/6/2025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81040121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title"/>
          </p:nvPr>
        </p:nvSpPr>
        <p:spPr>
          <a:xfrm>
            <a:off x="822960" y="904239"/>
            <a:ext cx="12984480" cy="3362960"/>
          </a:xfrm>
        </p:spPr>
        <p:txBody>
          <a:bodyPr anchor="ctr"/>
          <a:lstStyle>
            <a:lvl1pPr algn="l">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229361" y="4378960"/>
            <a:ext cx="12156619" cy="1198880"/>
          </a:xfrm>
        </p:spPr>
        <p:txBody>
          <a:bodyPr anchor="ct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9377342" y="457201"/>
            <a:ext cx="3493008" cy="438150"/>
          </a:xfrm>
        </p:spPr>
        <p:txBody>
          <a:bodyPr/>
          <a:lstStyle>
            <a:lvl1pPr algn="r">
              <a:defRPr/>
            </a:lvl1pPr>
          </a:lstStyle>
          <a:p>
            <a:fld id="{90298CD5-6C1E-4009-B41F-6DF62E31D3BE}" type="datetimeFigureOut">
              <a:rPr lang="en-US" smtClean="0"/>
              <a:pPr/>
              <a:t>8/6/2025</a:t>
            </a:fld>
            <a:endParaRPr lang="en-US" dirty="0"/>
          </a:p>
        </p:txBody>
      </p:sp>
      <p:sp>
        <p:nvSpPr>
          <p:cNvPr id="6" name="Footer Placeholder 5"/>
          <p:cNvSpPr>
            <a:spLocks noGrp="1"/>
          </p:cNvSpPr>
          <p:nvPr>
            <p:ph type="ftr" sz="quarter" idx="11"/>
          </p:nvPr>
        </p:nvSpPr>
        <p:spPr>
          <a:xfrm>
            <a:off x="822960" y="455930"/>
            <a:ext cx="8389790" cy="438150"/>
          </a:xfrm>
        </p:spPr>
        <p:txBody>
          <a:bodyPr/>
          <a:lstStyle/>
          <a:p>
            <a:endParaRPr lang="en-US" dirty="0"/>
          </a:p>
        </p:txBody>
      </p:sp>
      <p:sp>
        <p:nvSpPr>
          <p:cNvPr id="7" name="Slide Number Placeholder 6"/>
          <p:cNvSpPr>
            <a:spLocks noGrp="1"/>
          </p:cNvSpPr>
          <p:nvPr>
            <p:ph type="sldNum" sz="quarter" idx="12"/>
          </p:nvPr>
        </p:nvSpPr>
        <p:spPr>
          <a:xfrm>
            <a:off x="13034942" y="457201"/>
            <a:ext cx="772498" cy="438150"/>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98821177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title"/>
          </p:nvPr>
        </p:nvSpPr>
        <p:spPr>
          <a:xfrm>
            <a:off x="1229361" y="904240"/>
            <a:ext cx="12181840" cy="3125394"/>
          </a:xfrm>
        </p:spPr>
        <p:txBody>
          <a:bodyPr anchor="ctr"/>
          <a:lstStyle>
            <a:lvl1pPr algn="l">
              <a:defRPr sz="3840"/>
            </a:lvl1pPr>
          </a:lstStyle>
          <a:p>
            <a:r>
              <a:rPr lang="en-US"/>
              <a:t>Click to edit Master title style</a:t>
            </a:r>
            <a:endParaRPr lang="en-US" dirty="0"/>
          </a:p>
        </p:txBody>
      </p:sp>
      <p:sp>
        <p:nvSpPr>
          <p:cNvPr id="12" name="Text Placeholder 3"/>
          <p:cNvSpPr>
            <a:spLocks noGrp="1"/>
          </p:cNvSpPr>
          <p:nvPr>
            <p:ph type="body" sz="half" idx="13"/>
          </p:nvPr>
        </p:nvSpPr>
        <p:spPr>
          <a:xfrm>
            <a:off x="1564638" y="4038668"/>
            <a:ext cx="11511283" cy="533332"/>
          </a:xfrm>
        </p:spPr>
        <p:txBody>
          <a:bodyPr anchor="t">
            <a:normAutofit/>
          </a:bodyPr>
          <a:lstStyle>
            <a:lvl1pPr marL="0" indent="0">
              <a:buNone/>
              <a:defRPr sz="168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4" name="Text Placeholder 3"/>
          <p:cNvSpPr>
            <a:spLocks noGrp="1"/>
          </p:cNvSpPr>
          <p:nvPr>
            <p:ph type="body" sz="half" idx="2"/>
          </p:nvPr>
        </p:nvSpPr>
        <p:spPr>
          <a:xfrm>
            <a:off x="1229361" y="4751835"/>
            <a:ext cx="12181840" cy="815845"/>
          </a:xfrm>
        </p:spPr>
        <p:txBody>
          <a:bodyPr anchor="ctr">
            <a:normAutofit/>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9377342" y="457201"/>
            <a:ext cx="3493008" cy="438150"/>
          </a:xfrm>
        </p:spPr>
        <p:txBody>
          <a:bodyPr/>
          <a:lstStyle>
            <a:lvl1pPr algn="r">
              <a:defRPr/>
            </a:lvl1pPr>
          </a:lstStyle>
          <a:p>
            <a:fld id="{90298CD5-6C1E-4009-B41F-6DF62E31D3BE}" type="datetimeFigureOut">
              <a:rPr lang="en-US" smtClean="0"/>
              <a:pPr/>
              <a:t>8/6/2025</a:t>
            </a:fld>
            <a:endParaRPr lang="en-US" dirty="0"/>
          </a:p>
        </p:txBody>
      </p:sp>
      <p:sp>
        <p:nvSpPr>
          <p:cNvPr id="6" name="Footer Placeholder 5"/>
          <p:cNvSpPr>
            <a:spLocks noGrp="1"/>
          </p:cNvSpPr>
          <p:nvPr>
            <p:ph type="ftr" sz="quarter" idx="11"/>
          </p:nvPr>
        </p:nvSpPr>
        <p:spPr>
          <a:xfrm>
            <a:off x="822960" y="455930"/>
            <a:ext cx="8389790" cy="438150"/>
          </a:xfrm>
        </p:spPr>
        <p:txBody>
          <a:bodyPr/>
          <a:lstStyle/>
          <a:p>
            <a:endParaRPr lang="en-US" dirty="0"/>
          </a:p>
        </p:txBody>
      </p:sp>
      <p:sp>
        <p:nvSpPr>
          <p:cNvPr id="7" name="Slide Number Placeholder 6"/>
          <p:cNvSpPr>
            <a:spLocks noGrp="1"/>
          </p:cNvSpPr>
          <p:nvPr>
            <p:ph type="sldNum" sz="quarter" idx="12"/>
          </p:nvPr>
        </p:nvSpPr>
        <p:spPr>
          <a:xfrm>
            <a:off x="13034942" y="457201"/>
            <a:ext cx="772498" cy="438150"/>
          </a:xfrm>
        </p:spPr>
        <p:txBody>
          <a:bodyPr/>
          <a:lstStyle/>
          <a:p>
            <a:fld id="{4FAB73BC-B049-4115-A692-8D63A059BFB8}" type="slidenum">
              <a:rPr lang="en-US" smtClean="0"/>
              <a:pPr/>
              <a:t>‹#›</a:t>
            </a:fld>
            <a:endParaRPr lang="en-US" dirty="0"/>
          </a:p>
        </p:txBody>
      </p:sp>
      <p:sp>
        <p:nvSpPr>
          <p:cNvPr id="9" name="TextBox 8"/>
          <p:cNvSpPr txBox="1"/>
          <p:nvPr/>
        </p:nvSpPr>
        <p:spPr>
          <a:xfrm>
            <a:off x="571500" y="1120140"/>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9600" dirty="0">
                <a:solidFill>
                  <a:schemeClr val="tx1"/>
                </a:solidFill>
                <a:effectLst/>
              </a:rPr>
              <a:t>“</a:t>
            </a:r>
          </a:p>
        </p:txBody>
      </p:sp>
      <p:sp>
        <p:nvSpPr>
          <p:cNvPr id="10" name="TextBox 9"/>
          <p:cNvSpPr txBox="1"/>
          <p:nvPr/>
        </p:nvSpPr>
        <p:spPr>
          <a:xfrm>
            <a:off x="13181076" y="3241548"/>
            <a:ext cx="731520" cy="701731"/>
          </a:xfrm>
          <a:prstGeom prst="rect">
            <a:avLst/>
          </a:prstGeom>
        </p:spPr>
        <p:txBody>
          <a:bodyPr vert="horz" lIns="109728" tIns="54864" rIns="109728" bIns="54864"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9600" dirty="0">
                <a:solidFill>
                  <a:schemeClr val="tx1"/>
                </a:solidFill>
                <a:effectLst/>
              </a:rPr>
              <a:t>”</a:t>
            </a:r>
          </a:p>
        </p:txBody>
      </p:sp>
    </p:spTree>
    <p:extLst>
      <p:ext uri="{BB962C8B-B14F-4D97-AF65-F5344CB8AC3E}">
        <p14:creationId xmlns:p14="http://schemas.microsoft.com/office/powerpoint/2010/main" val="107487931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Title 1"/>
          <p:cNvSpPr>
            <a:spLocks noGrp="1"/>
          </p:cNvSpPr>
          <p:nvPr>
            <p:ph type="title"/>
          </p:nvPr>
        </p:nvSpPr>
        <p:spPr>
          <a:xfrm>
            <a:off x="1229394" y="1349642"/>
            <a:ext cx="12175423" cy="3014202"/>
          </a:xfrm>
        </p:spPr>
        <p:txBody>
          <a:bodyPr anchor="b"/>
          <a:lstStyle>
            <a:lvl1pPr algn="l">
              <a:defRPr sz="3840"/>
            </a:lvl1pPr>
          </a:lstStyle>
          <a:p>
            <a:r>
              <a:rPr lang="en-US"/>
              <a:t>Click to edit Master title style</a:t>
            </a:r>
            <a:endParaRPr lang="en-US" dirty="0"/>
          </a:p>
        </p:txBody>
      </p:sp>
      <p:sp>
        <p:nvSpPr>
          <p:cNvPr id="4" name="Text Placeholder 3"/>
          <p:cNvSpPr>
            <a:spLocks noGrp="1"/>
          </p:cNvSpPr>
          <p:nvPr>
            <p:ph type="body" sz="half" idx="2"/>
          </p:nvPr>
        </p:nvSpPr>
        <p:spPr>
          <a:xfrm>
            <a:off x="1229360" y="4377979"/>
            <a:ext cx="12173585" cy="1199862"/>
          </a:xfrm>
        </p:spPr>
        <p:txBody>
          <a:bodyPr anchor="t"/>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p:cNvSpPr>
            <a:spLocks noGrp="1"/>
          </p:cNvSpPr>
          <p:nvPr>
            <p:ph type="dt" sz="half" idx="10"/>
          </p:nvPr>
        </p:nvSpPr>
        <p:spPr>
          <a:xfrm>
            <a:off x="9377342" y="454660"/>
            <a:ext cx="3493008" cy="438150"/>
          </a:xfrm>
        </p:spPr>
        <p:txBody>
          <a:bodyPr/>
          <a:lstStyle>
            <a:lvl1pPr algn="r">
              <a:defRPr/>
            </a:lvl1pPr>
          </a:lstStyle>
          <a:p>
            <a:fld id="{90298CD5-6C1E-4009-B41F-6DF62E31D3BE}" type="datetimeFigureOut">
              <a:rPr lang="en-US" smtClean="0"/>
              <a:pPr/>
              <a:t>8/6/2025</a:t>
            </a:fld>
            <a:endParaRPr lang="en-US" dirty="0"/>
          </a:p>
        </p:txBody>
      </p:sp>
      <p:sp>
        <p:nvSpPr>
          <p:cNvPr id="6" name="Footer Placeholder 5"/>
          <p:cNvSpPr>
            <a:spLocks noGrp="1"/>
          </p:cNvSpPr>
          <p:nvPr>
            <p:ph type="ftr" sz="quarter" idx="11"/>
          </p:nvPr>
        </p:nvSpPr>
        <p:spPr>
          <a:xfrm>
            <a:off x="822960" y="454660"/>
            <a:ext cx="8389790" cy="438150"/>
          </a:xfrm>
        </p:spPr>
        <p:txBody>
          <a:bodyPr/>
          <a:lstStyle/>
          <a:p>
            <a:endParaRPr lang="en-US" dirty="0"/>
          </a:p>
        </p:txBody>
      </p:sp>
      <p:sp>
        <p:nvSpPr>
          <p:cNvPr id="7" name="Slide Number Placeholder 6"/>
          <p:cNvSpPr>
            <a:spLocks noGrp="1"/>
          </p:cNvSpPr>
          <p:nvPr>
            <p:ph type="sldNum" sz="quarter" idx="12"/>
          </p:nvPr>
        </p:nvSpPr>
        <p:spPr>
          <a:xfrm>
            <a:off x="13034942" y="457201"/>
            <a:ext cx="772498" cy="438150"/>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49426638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3474721" y="914400"/>
            <a:ext cx="10332719" cy="156464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22960" y="2642496"/>
            <a:ext cx="4147718" cy="740784"/>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8" name="Text Placeholder 3"/>
          <p:cNvSpPr>
            <a:spLocks noGrp="1"/>
          </p:cNvSpPr>
          <p:nvPr>
            <p:ph type="body" sz="half" idx="15"/>
          </p:nvPr>
        </p:nvSpPr>
        <p:spPr>
          <a:xfrm>
            <a:off x="822959" y="3485478"/>
            <a:ext cx="4147718" cy="3976958"/>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9" name="Text Placeholder 4"/>
          <p:cNvSpPr>
            <a:spLocks noGrp="1"/>
          </p:cNvSpPr>
          <p:nvPr>
            <p:ph type="body" sz="quarter" idx="3"/>
          </p:nvPr>
        </p:nvSpPr>
        <p:spPr>
          <a:xfrm>
            <a:off x="5242560" y="2641600"/>
            <a:ext cx="4147718" cy="751841"/>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0" name="Text Placeholder 3"/>
          <p:cNvSpPr>
            <a:spLocks noGrp="1"/>
          </p:cNvSpPr>
          <p:nvPr>
            <p:ph type="body" sz="half" idx="16"/>
          </p:nvPr>
        </p:nvSpPr>
        <p:spPr>
          <a:xfrm>
            <a:off x="5240230" y="3484880"/>
            <a:ext cx="4147718" cy="3977542"/>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11" name="Text Placeholder 4"/>
          <p:cNvSpPr>
            <a:spLocks noGrp="1"/>
          </p:cNvSpPr>
          <p:nvPr>
            <p:ph type="body" sz="quarter" idx="13"/>
          </p:nvPr>
        </p:nvSpPr>
        <p:spPr>
          <a:xfrm>
            <a:off x="9662160" y="2631439"/>
            <a:ext cx="4147718" cy="751841"/>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12" name="Text Placeholder 3"/>
          <p:cNvSpPr>
            <a:spLocks noGrp="1"/>
          </p:cNvSpPr>
          <p:nvPr>
            <p:ph type="body" sz="half" idx="17"/>
          </p:nvPr>
        </p:nvSpPr>
        <p:spPr>
          <a:xfrm>
            <a:off x="9662161" y="3485478"/>
            <a:ext cx="4147718" cy="3976958"/>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90298CD5-6C1E-4009-B41F-6DF62E31D3BE}" type="datetimeFigureOut">
              <a:rPr lang="en-US" smtClean="0"/>
              <a:pPr/>
              <a:t>8/6/2025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1752772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3474721" y="914400"/>
            <a:ext cx="10332719" cy="155448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26342" y="5029201"/>
            <a:ext cx="4141898" cy="819318"/>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0" name="Picture Placeholder 2"/>
          <p:cNvSpPr>
            <a:spLocks noGrp="1" noChangeAspect="1"/>
          </p:cNvSpPr>
          <p:nvPr>
            <p:ph type="pic" idx="15"/>
          </p:nvPr>
        </p:nvSpPr>
        <p:spPr>
          <a:xfrm>
            <a:off x="826342" y="2834640"/>
            <a:ext cx="4141898" cy="18288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1" name="Text Placeholder 3"/>
          <p:cNvSpPr>
            <a:spLocks noGrp="1"/>
          </p:cNvSpPr>
          <p:nvPr>
            <p:ph type="body" sz="half" idx="18"/>
          </p:nvPr>
        </p:nvSpPr>
        <p:spPr>
          <a:xfrm>
            <a:off x="826342" y="5848518"/>
            <a:ext cx="4141898" cy="1613905"/>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2" name="Text Placeholder 4"/>
          <p:cNvSpPr>
            <a:spLocks noGrp="1"/>
          </p:cNvSpPr>
          <p:nvPr>
            <p:ph type="body" sz="quarter" idx="3"/>
          </p:nvPr>
        </p:nvSpPr>
        <p:spPr>
          <a:xfrm>
            <a:off x="5249116" y="5029201"/>
            <a:ext cx="4138722" cy="819318"/>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3" name="Picture Placeholder 2"/>
          <p:cNvSpPr>
            <a:spLocks noGrp="1" noChangeAspect="1"/>
          </p:cNvSpPr>
          <p:nvPr>
            <p:ph type="pic" idx="21"/>
          </p:nvPr>
        </p:nvSpPr>
        <p:spPr>
          <a:xfrm>
            <a:off x="5249116" y="2834640"/>
            <a:ext cx="4138723" cy="18288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4" name="Text Placeholder 3"/>
          <p:cNvSpPr>
            <a:spLocks noGrp="1"/>
          </p:cNvSpPr>
          <p:nvPr>
            <p:ph type="body" sz="half" idx="19"/>
          </p:nvPr>
        </p:nvSpPr>
        <p:spPr>
          <a:xfrm>
            <a:off x="5249117" y="5848516"/>
            <a:ext cx="4138722" cy="1613905"/>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25" name="Text Placeholder 4"/>
          <p:cNvSpPr>
            <a:spLocks noGrp="1"/>
          </p:cNvSpPr>
          <p:nvPr>
            <p:ph type="body" sz="quarter" idx="13"/>
          </p:nvPr>
        </p:nvSpPr>
        <p:spPr>
          <a:xfrm>
            <a:off x="9659678" y="5029201"/>
            <a:ext cx="4147763" cy="819318"/>
          </a:xfrm>
        </p:spPr>
        <p:txBody>
          <a:bodyPr anchor="b">
            <a:noAutofit/>
          </a:bodyPr>
          <a:lstStyle>
            <a:lvl1pPr marL="0" indent="0">
              <a:buNone/>
              <a:defRPr sz="2880" b="0">
                <a:solidFill>
                  <a:schemeClr val="tx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26" name="Picture Placeholder 2"/>
          <p:cNvSpPr>
            <a:spLocks noGrp="1" noChangeAspect="1"/>
          </p:cNvSpPr>
          <p:nvPr>
            <p:ph type="pic" idx="22"/>
          </p:nvPr>
        </p:nvSpPr>
        <p:spPr>
          <a:xfrm>
            <a:off x="9659826" y="2834640"/>
            <a:ext cx="4137454" cy="18288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en-US"/>
              <a:t>Click icon to add picture</a:t>
            </a:r>
            <a:endParaRPr lang="en-US" dirty="0"/>
          </a:p>
        </p:txBody>
      </p:sp>
      <p:sp>
        <p:nvSpPr>
          <p:cNvPr id="27" name="Text Placeholder 3"/>
          <p:cNvSpPr>
            <a:spLocks noGrp="1"/>
          </p:cNvSpPr>
          <p:nvPr>
            <p:ph type="body" sz="half" idx="20"/>
          </p:nvPr>
        </p:nvSpPr>
        <p:spPr>
          <a:xfrm>
            <a:off x="9659678" y="5848514"/>
            <a:ext cx="4142934" cy="1613905"/>
          </a:xfrm>
        </p:spPr>
        <p:txBody>
          <a:bodyPr anchor="t">
            <a:normAutofit/>
          </a:bodyPr>
          <a:lstStyle>
            <a:lvl1pPr marL="0" indent="0">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en-US"/>
              <a:t>Click to edit Master text styles</a:t>
            </a:r>
          </a:p>
        </p:txBody>
      </p:sp>
      <p:sp>
        <p:nvSpPr>
          <p:cNvPr id="3" name="Date Placeholder 2"/>
          <p:cNvSpPr>
            <a:spLocks noGrp="1"/>
          </p:cNvSpPr>
          <p:nvPr>
            <p:ph type="dt" sz="half" idx="10"/>
          </p:nvPr>
        </p:nvSpPr>
        <p:spPr/>
        <p:txBody>
          <a:bodyPr/>
          <a:lstStyle/>
          <a:p>
            <a:fld id="{90298CD5-6C1E-4009-B41F-6DF62E31D3BE}" type="datetimeFigureOut">
              <a:rPr lang="en-US" smtClean="0"/>
              <a:pPr/>
              <a:t>8/6/2025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38337747"/>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822960" y="2633471"/>
            <a:ext cx="12984480" cy="48289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8/6/2025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5950016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250180"/>
            <a:ext cx="14630400" cy="2979420"/>
          </a:xfrm>
          <a:prstGeom prst="rect">
            <a:avLst/>
          </a:prstGeom>
        </p:spPr>
      </p:pic>
      <p:sp>
        <p:nvSpPr>
          <p:cNvPr id="2" name="Vertical Title 1"/>
          <p:cNvSpPr>
            <a:spLocks noGrp="1"/>
          </p:cNvSpPr>
          <p:nvPr>
            <p:ph type="title" orient="vert"/>
          </p:nvPr>
        </p:nvSpPr>
        <p:spPr>
          <a:xfrm>
            <a:off x="11338560" y="894080"/>
            <a:ext cx="2468880" cy="4683760"/>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229360" y="894081"/>
            <a:ext cx="9845041" cy="4683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377342" y="455930"/>
            <a:ext cx="3493008" cy="438150"/>
          </a:xfrm>
        </p:spPr>
        <p:txBody>
          <a:bodyPr/>
          <a:lstStyle>
            <a:lvl1pPr algn="r">
              <a:defRPr/>
            </a:lvl1pPr>
          </a:lstStyle>
          <a:p>
            <a:fld id="{2A4AFB99-0EAB-4182-AFF8-E214C82A68F6}" type="datetimeFigureOut">
              <a:rPr lang="en-US" smtClean="0"/>
              <a:t>8/6/2025</a:t>
            </a:fld>
            <a:endParaRPr lang="en-US" dirty="0"/>
          </a:p>
        </p:txBody>
      </p:sp>
      <p:sp>
        <p:nvSpPr>
          <p:cNvPr id="5" name="Footer Placeholder 4"/>
          <p:cNvSpPr>
            <a:spLocks noGrp="1"/>
          </p:cNvSpPr>
          <p:nvPr>
            <p:ph type="ftr" sz="quarter" idx="11"/>
          </p:nvPr>
        </p:nvSpPr>
        <p:spPr>
          <a:xfrm>
            <a:off x="822960" y="457201"/>
            <a:ext cx="8389790" cy="438150"/>
          </a:xfrm>
        </p:spPr>
        <p:txBody>
          <a:bodyPr/>
          <a:lstStyle/>
          <a:p>
            <a:endParaRPr lang="en-US" dirty="0"/>
          </a:p>
        </p:txBody>
      </p:sp>
      <p:sp>
        <p:nvSpPr>
          <p:cNvPr id="6" name="Slide Number Placeholder 5"/>
          <p:cNvSpPr>
            <a:spLocks noGrp="1"/>
          </p:cNvSpPr>
          <p:nvPr>
            <p:ph type="sldNum" sz="quarter" idx="12"/>
          </p:nvPr>
        </p:nvSpPr>
        <p:spPr>
          <a:xfrm>
            <a:off x="13034942" y="457201"/>
            <a:ext cx="772498" cy="438150"/>
          </a:xfrm>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68119108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54601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0200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6396764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1436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93461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0" y="0"/>
            <a:ext cx="14630400" cy="1729740"/>
          </a:xfrm>
          <a:prstGeom prst="rect">
            <a:avLst/>
          </a:prstGeom>
        </p:spPr>
      </p:pic>
      <p:sp>
        <p:nvSpPr>
          <p:cNvPr id="2" name="Title Placeholder 1"/>
          <p:cNvSpPr>
            <a:spLocks noGrp="1"/>
          </p:cNvSpPr>
          <p:nvPr>
            <p:ph type="title"/>
          </p:nvPr>
        </p:nvSpPr>
        <p:spPr>
          <a:xfrm>
            <a:off x="3474720" y="917247"/>
            <a:ext cx="10332720" cy="155163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22960" y="2633473"/>
            <a:ext cx="12984480" cy="48289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14432" y="7627621"/>
            <a:ext cx="3493008" cy="438150"/>
          </a:xfrm>
          <a:prstGeom prst="rect">
            <a:avLst/>
          </a:prstGeom>
        </p:spPr>
        <p:txBody>
          <a:bodyPr vert="horz" lIns="91440" tIns="45720" rIns="91440" bIns="45720" rtlCol="0" anchor="ctr"/>
          <a:lstStyle>
            <a:lvl1pPr algn="r">
              <a:defRPr sz="1260">
                <a:solidFill>
                  <a:schemeClr val="tx1">
                    <a:tint val="75000"/>
                  </a:schemeClr>
                </a:solidFill>
              </a:defRPr>
            </a:lvl1pPr>
          </a:lstStyle>
          <a:p>
            <a:fld id="{90298CD5-6C1E-4009-B41F-6DF62E31D3BE}" type="datetimeFigureOut">
              <a:rPr lang="en-US" smtClean="0"/>
              <a:pPr/>
              <a:t>8/6/2025</a:t>
            </a:fld>
            <a:endParaRPr lang="en-US" dirty="0"/>
          </a:p>
        </p:txBody>
      </p:sp>
      <p:sp>
        <p:nvSpPr>
          <p:cNvPr id="5" name="Footer Placeholder 4"/>
          <p:cNvSpPr>
            <a:spLocks noGrp="1"/>
          </p:cNvSpPr>
          <p:nvPr>
            <p:ph type="ftr" sz="quarter" idx="3"/>
          </p:nvPr>
        </p:nvSpPr>
        <p:spPr>
          <a:xfrm>
            <a:off x="822960" y="7627015"/>
            <a:ext cx="9326880" cy="438150"/>
          </a:xfrm>
          <a:prstGeom prst="rect">
            <a:avLst/>
          </a:prstGeom>
        </p:spPr>
        <p:txBody>
          <a:bodyPr vert="horz" lIns="91440" tIns="45720" rIns="91440" bIns="45720" rtlCol="0" anchor="ctr"/>
          <a:lstStyle>
            <a:lvl1pPr algn="l">
              <a:defRPr sz="126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5600" y="457201"/>
            <a:ext cx="3291840" cy="438150"/>
          </a:xfrm>
          <a:prstGeom prst="rect">
            <a:avLst/>
          </a:prstGeom>
        </p:spPr>
        <p:txBody>
          <a:bodyPr vert="horz" lIns="91440" tIns="45720" rIns="91440" bIns="45720" rtlCol="0" anchor="ctr"/>
          <a:lstStyle>
            <a:lvl1pPr algn="r">
              <a:defRPr sz="126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85283382"/>
      </p:ext>
    </p:extLst>
  </p:cSld>
  <p:clrMap bg1="dk1" tx1="lt1" bg2="dk2" tx2="lt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 id="2147484068" r:id="rId12"/>
    <p:sldLayoutId id="2147484069" r:id="rId13"/>
    <p:sldLayoutId id="2147484070" r:id="rId14"/>
    <p:sldLayoutId id="2147484071" r:id="rId15"/>
    <p:sldLayoutId id="2147484072" r:id="rId16"/>
    <p:sldLayoutId id="2147484073" r:id="rId17"/>
    <p:sldLayoutId id="2147484074" r:id="rId18"/>
    <p:sldLayoutId id="2147484075" r:id="rId19"/>
    <p:sldLayoutId id="2147484076" r:id="rId20"/>
    <p:sldLayoutId id="2147484077" r:id="rId21"/>
    <p:sldLayoutId id="2147484078" r:id="rId22"/>
  </p:sldLayoutIdLst>
  <p:hf sldNum="0" hdr="0" ftr="0" dt="0"/>
  <p:txStyles>
    <p:titleStyle>
      <a:lvl1pPr algn="r" defTabSz="1097280" rtl="0" eaLnBrk="1" latinLnBrk="0" hangingPunct="1">
        <a:lnSpc>
          <a:spcPct val="90000"/>
        </a:lnSpc>
        <a:spcBef>
          <a:spcPct val="0"/>
        </a:spcBef>
        <a:buNone/>
        <a:defRPr sz="4800" kern="1200" cap="all" baseline="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264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192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2955074" y="1799429"/>
            <a:ext cx="8394816" cy="1646297"/>
          </a:xfrm>
          <a:prstGeom prst="rect">
            <a:avLst/>
          </a:prstGeom>
          <a:noFill/>
          <a:ln/>
        </p:spPr>
        <p:txBody>
          <a:bodyPr wrap="square" lIns="0" tIns="0" rIns="0" bIns="0" rtlCol="0" anchor="t"/>
          <a:lstStyle/>
          <a:p>
            <a:pPr marL="0" indent="0" algn="ctr">
              <a:lnSpc>
                <a:spcPts val="5550"/>
              </a:lnSpc>
              <a:buNone/>
            </a:pPr>
            <a:r>
              <a:rPr lang="en-US" sz="5400" b="1" dirty="0">
                <a:solidFill>
                  <a:srgbClr val="F2F0F4"/>
                </a:solidFill>
                <a:latin typeface="Montserrat" pitchFamily="34" charset="0"/>
                <a:ea typeface="Montserrat" pitchFamily="34" charset="-122"/>
                <a:cs typeface="Montserrat" pitchFamily="34" charset="-120"/>
              </a:rPr>
              <a:t>Sentiment Analysis of YouTube Comments</a:t>
            </a:r>
            <a:endParaRPr lang="en-US" sz="5400" b="1" dirty="0"/>
          </a:p>
        </p:txBody>
      </p:sp>
      <p:sp>
        <p:nvSpPr>
          <p:cNvPr id="4" name="Text 1"/>
          <p:cNvSpPr/>
          <p:nvPr/>
        </p:nvSpPr>
        <p:spPr>
          <a:xfrm>
            <a:off x="793790" y="4449247"/>
            <a:ext cx="7556421" cy="1088708"/>
          </a:xfrm>
          <a:prstGeom prst="rect">
            <a:avLst/>
          </a:prstGeom>
          <a:noFill/>
          <a:ln/>
        </p:spPr>
        <p:txBody>
          <a:bodyPr wrap="square" lIns="0" tIns="0" rIns="0" bIns="0" rtlCol="0" anchor="t"/>
          <a:lstStyle/>
          <a:p>
            <a:pPr marL="0" indent="0" algn="l">
              <a:lnSpc>
                <a:spcPts val="2850"/>
              </a:lnSpc>
              <a:buNone/>
            </a:pPr>
            <a:r>
              <a:rPr lang="en-US" sz="2000" dirty="0">
                <a:latin typeface="Goudy Old Style" panose="02020502050305020303" pitchFamily="18" charset="0"/>
              </a:rPr>
              <a:t>2410030138  KYASA GOWTHAM</a:t>
            </a:r>
          </a:p>
          <a:p>
            <a:pPr marL="0" indent="0" algn="l">
              <a:lnSpc>
                <a:spcPts val="2850"/>
              </a:lnSpc>
              <a:buNone/>
            </a:pPr>
            <a:r>
              <a:rPr lang="en-US" sz="2000" dirty="0">
                <a:latin typeface="Goudy Old Style" panose="02020502050305020303" pitchFamily="18" charset="0"/>
              </a:rPr>
              <a:t>2410030188  ANISH JADHAV</a:t>
            </a:r>
          </a:p>
          <a:p>
            <a:pPr marL="0" indent="0" algn="l">
              <a:lnSpc>
                <a:spcPts val="2850"/>
              </a:lnSpc>
              <a:buNone/>
            </a:pPr>
            <a:r>
              <a:rPr lang="en-US" sz="2000" dirty="0">
                <a:latin typeface="Goudy Old Style" panose="02020502050305020303" pitchFamily="18" charset="0"/>
              </a:rPr>
              <a:t>2410030320  V.MUKESH</a:t>
            </a:r>
          </a:p>
          <a:p>
            <a:pPr marL="0" indent="0" algn="l">
              <a:lnSpc>
                <a:spcPts val="2850"/>
              </a:lnSpc>
              <a:buNone/>
            </a:pPr>
            <a:r>
              <a:rPr lang="en-US" sz="2000" dirty="0">
                <a:latin typeface="Goudy Old Style" panose="02020502050305020303" pitchFamily="18" charset="0"/>
              </a:rPr>
              <a:t>2410030496  P.KARTHIKEYAN</a:t>
            </a:r>
          </a:p>
          <a:p>
            <a:pPr marL="0" indent="0" algn="l">
              <a:lnSpc>
                <a:spcPts val="2850"/>
              </a:lnSpc>
              <a:buNone/>
            </a:pPr>
            <a:r>
              <a:rPr lang="en-US" sz="2000" dirty="0">
                <a:latin typeface="Goudy Old Style" panose="02020502050305020303" pitchFamily="18" charset="0"/>
              </a:rPr>
              <a:t>2410030250  G.KISHORE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1638" y="1911786"/>
            <a:ext cx="8988981" cy="644366"/>
          </a:xfrm>
          <a:prstGeom prst="rect">
            <a:avLst/>
          </a:prstGeom>
          <a:noFill/>
          <a:ln/>
        </p:spPr>
        <p:txBody>
          <a:bodyPr wrap="none" lIns="0" tIns="0" rIns="0" bIns="0" rtlCol="0" anchor="t"/>
          <a:lstStyle/>
          <a:p>
            <a:pPr marL="0" indent="0" algn="l">
              <a:lnSpc>
                <a:spcPts val="5050"/>
              </a:lnSpc>
              <a:buNone/>
            </a:pPr>
            <a:r>
              <a:rPr lang="en-US" sz="4800" b="1" dirty="0">
                <a:solidFill>
                  <a:srgbClr val="F2F0F4"/>
                </a:solidFill>
                <a:latin typeface="Montserrat" pitchFamily="34" charset="0"/>
                <a:ea typeface="Montserrat" pitchFamily="34" charset="-122"/>
                <a:cs typeface="Montserrat" pitchFamily="34" charset="-120"/>
              </a:rPr>
              <a:t>Data Collection Using YouTube API</a:t>
            </a:r>
            <a:endParaRPr lang="en-US" sz="4800" b="1" dirty="0"/>
          </a:p>
        </p:txBody>
      </p:sp>
      <p:sp>
        <p:nvSpPr>
          <p:cNvPr id="3" name="Text 1"/>
          <p:cNvSpPr/>
          <p:nvPr/>
        </p:nvSpPr>
        <p:spPr>
          <a:xfrm>
            <a:off x="870228" y="3954243"/>
            <a:ext cx="6342102" cy="989767"/>
          </a:xfrm>
          <a:prstGeom prst="rect">
            <a:avLst/>
          </a:prstGeom>
          <a:noFill/>
          <a:ln/>
        </p:spPr>
        <p:txBody>
          <a:bodyPr wrap="square" lIns="0" tIns="0" rIns="0" bIns="0" rtlCol="0" anchor="t"/>
          <a:lstStyle/>
          <a:p>
            <a:pPr marL="0" indent="0" algn="l">
              <a:lnSpc>
                <a:spcPts val="2550"/>
              </a:lnSpc>
              <a:buNone/>
            </a:pPr>
            <a:r>
              <a:rPr lang="en-US" sz="2800" dirty="0">
                <a:solidFill>
                  <a:srgbClr val="DCD7E5"/>
                </a:solidFill>
                <a:latin typeface="Goudy Old Style" panose="02020502050305020303" pitchFamily="18" charset="0"/>
                <a:ea typeface="Heebo Light" pitchFamily="34" charset="-122"/>
                <a:cs typeface="Heebo Light" pitchFamily="34" charset="-120"/>
              </a:rPr>
              <a:t>To gather the vast amounts of public comments needed for analysis, we leverage the </a:t>
            </a:r>
            <a:r>
              <a:rPr lang="en-US" sz="2800" b="1" dirty="0">
                <a:solidFill>
                  <a:srgbClr val="DCD7E5"/>
                </a:solidFill>
                <a:latin typeface="Goudy Old Style" panose="02020502050305020303" pitchFamily="18" charset="0"/>
                <a:ea typeface="Heebo Light" pitchFamily="34" charset="-122"/>
                <a:cs typeface="Heebo Light" pitchFamily="34" charset="-120"/>
              </a:rPr>
              <a:t>YouTube Data API v3</a:t>
            </a:r>
            <a:r>
              <a:rPr lang="en-US" sz="2800" dirty="0">
                <a:solidFill>
                  <a:srgbClr val="DCD7E5"/>
                </a:solidFill>
                <a:latin typeface="Goudy Old Style" panose="02020502050305020303" pitchFamily="18" charset="0"/>
                <a:ea typeface="Heebo Light" pitchFamily="34" charset="-122"/>
                <a:cs typeface="Heebo Light" pitchFamily="34" charset="-120"/>
              </a:rPr>
              <a:t>. This programmatic access allows for efficient, large-scale extraction based on specific video IDs</a:t>
            </a:r>
            <a:r>
              <a:rPr lang="en-US" sz="2800" dirty="0">
                <a:solidFill>
                  <a:srgbClr val="DCD7E5"/>
                </a:solidFill>
                <a:latin typeface="Heebo Light" pitchFamily="34" charset="0"/>
                <a:ea typeface="Heebo Light" pitchFamily="34" charset="-122"/>
                <a:cs typeface="Heebo Light" pitchFamily="34" charset="-120"/>
              </a:rPr>
              <a:t>.</a:t>
            </a:r>
            <a:endParaRPr lang="en-US" sz="2800" dirty="0"/>
          </a:p>
        </p:txBody>
      </p:sp>
      <p:pic>
        <p:nvPicPr>
          <p:cNvPr id="30" name="Picture 29">
            <a:extLst>
              <a:ext uri="{FF2B5EF4-FFF2-40B4-BE49-F238E27FC236}">
                <a16:creationId xmlns:a16="http://schemas.microsoft.com/office/drawing/2014/main" id="{1F3184E4-6896-C2E2-C3CC-F284AB832D30}"/>
              </a:ext>
            </a:extLst>
          </p:cNvPr>
          <p:cNvPicPr>
            <a:picLocks noChangeAspect="1"/>
          </p:cNvPicPr>
          <p:nvPr/>
        </p:nvPicPr>
        <p:blipFill>
          <a:blip r:embed="rId3"/>
          <a:stretch>
            <a:fillRect/>
          </a:stretch>
        </p:blipFill>
        <p:spPr>
          <a:xfrm>
            <a:off x="8552985" y="2839444"/>
            <a:ext cx="5485967" cy="481286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97844"/>
            <a:ext cx="10961965" cy="708779"/>
          </a:xfrm>
          <a:prstGeom prst="rect">
            <a:avLst/>
          </a:prstGeom>
          <a:noFill/>
          <a:ln/>
        </p:spPr>
        <p:txBody>
          <a:bodyPr wrap="none" lIns="0" tIns="0" rIns="0" bIns="0" rtlCol="0" anchor="t"/>
          <a:lstStyle/>
          <a:p>
            <a:pPr marL="0" indent="0" algn="l">
              <a:lnSpc>
                <a:spcPts val="5550"/>
              </a:lnSpc>
              <a:buNone/>
            </a:pPr>
            <a:r>
              <a:rPr lang="en-US" sz="4450" b="1" dirty="0">
                <a:solidFill>
                  <a:srgbClr val="F2F0F4"/>
                </a:solidFill>
                <a:latin typeface="Montserrat" pitchFamily="34" charset="0"/>
                <a:ea typeface="Montserrat" pitchFamily="34" charset="-122"/>
                <a:cs typeface="Montserrat" pitchFamily="34" charset="-120"/>
              </a:rPr>
              <a:t>Sentiment Analysis Techniques &amp; Tools</a:t>
            </a:r>
            <a:endParaRPr lang="en-US" sz="4450" b="1" dirty="0"/>
          </a:p>
        </p:txBody>
      </p:sp>
      <p:sp>
        <p:nvSpPr>
          <p:cNvPr id="3" name="Shape 1"/>
          <p:cNvSpPr/>
          <p:nvPr/>
        </p:nvSpPr>
        <p:spPr>
          <a:xfrm>
            <a:off x="793790" y="2960251"/>
            <a:ext cx="510302" cy="510302"/>
          </a:xfrm>
          <a:prstGeom prst="roundRect">
            <a:avLst>
              <a:gd name="adj" fmla="val 18669"/>
            </a:avLst>
          </a:prstGeom>
          <a:solidFill>
            <a:srgbClr val="31136C"/>
          </a:solidFill>
          <a:ln w="7620">
            <a:solidFill>
              <a:srgbClr val="4A2C85"/>
            </a:solidFill>
            <a:prstDash val="solid"/>
          </a:ln>
        </p:spPr>
      </p:sp>
      <p:sp>
        <p:nvSpPr>
          <p:cNvPr id="4" name="Text 2"/>
          <p:cNvSpPr/>
          <p:nvPr/>
        </p:nvSpPr>
        <p:spPr>
          <a:xfrm>
            <a:off x="878860" y="3002756"/>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CD7E5"/>
                </a:solidFill>
                <a:latin typeface="Montserrat" pitchFamily="34" charset="0"/>
                <a:ea typeface="Montserrat" pitchFamily="34" charset="-122"/>
                <a:cs typeface="Montserrat" pitchFamily="34" charset="-120"/>
              </a:rPr>
              <a:t>1</a:t>
            </a:r>
            <a:endParaRPr lang="en-US" sz="2650" dirty="0"/>
          </a:p>
        </p:txBody>
      </p:sp>
      <p:sp>
        <p:nvSpPr>
          <p:cNvPr id="5" name="Text 3"/>
          <p:cNvSpPr/>
          <p:nvPr/>
        </p:nvSpPr>
        <p:spPr>
          <a:xfrm>
            <a:off x="1530906" y="3038118"/>
            <a:ext cx="3421499" cy="708660"/>
          </a:xfrm>
          <a:prstGeom prst="rect">
            <a:avLst/>
          </a:prstGeom>
          <a:noFill/>
          <a:ln/>
        </p:spPr>
        <p:txBody>
          <a:bodyPr wrap="square" lIns="0" tIns="0" rIns="0" bIns="0" rtlCol="0" anchor="t"/>
          <a:lstStyle/>
          <a:p>
            <a:pPr marL="0" indent="0" algn="l">
              <a:lnSpc>
                <a:spcPts val="2750"/>
              </a:lnSpc>
              <a:buNone/>
            </a:pPr>
            <a:r>
              <a:rPr lang="en-US" sz="2200" b="1" dirty="0">
                <a:solidFill>
                  <a:srgbClr val="DCD7E5"/>
                </a:solidFill>
                <a:latin typeface="Montserrat" pitchFamily="34" charset="0"/>
                <a:ea typeface="Montserrat" pitchFamily="34" charset="-122"/>
                <a:cs typeface="Montserrat" pitchFamily="34" charset="-120"/>
              </a:rPr>
              <a:t>Natural Language Processing (NLP)</a:t>
            </a:r>
            <a:endParaRPr lang="en-US" sz="2200" b="1" dirty="0"/>
          </a:p>
        </p:txBody>
      </p:sp>
      <p:sp>
        <p:nvSpPr>
          <p:cNvPr id="6" name="Text 4"/>
          <p:cNvSpPr/>
          <p:nvPr/>
        </p:nvSpPr>
        <p:spPr>
          <a:xfrm>
            <a:off x="804506" y="4254341"/>
            <a:ext cx="3421499" cy="1451610"/>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Goudy Old Style" panose="02020502050305020303" pitchFamily="18" charset="0"/>
                <a:ea typeface="Heebo Light" pitchFamily="34" charset="-122"/>
                <a:cs typeface="Heebo Light" pitchFamily="34" charset="-120"/>
              </a:rPr>
              <a:t>The core of sentiment analysis applies advanced NLP methods to interpret human language within comments.</a:t>
            </a:r>
            <a:endParaRPr lang="en-US" sz="1750" dirty="0">
              <a:latin typeface="Goudy Old Style" panose="02020502050305020303" pitchFamily="18" charset="0"/>
            </a:endParaRPr>
          </a:p>
        </p:txBody>
      </p:sp>
      <p:sp>
        <p:nvSpPr>
          <p:cNvPr id="7" name="Shape 5"/>
          <p:cNvSpPr/>
          <p:nvPr/>
        </p:nvSpPr>
        <p:spPr>
          <a:xfrm>
            <a:off x="5235893" y="2960251"/>
            <a:ext cx="510302" cy="510302"/>
          </a:xfrm>
          <a:prstGeom prst="roundRect">
            <a:avLst>
              <a:gd name="adj" fmla="val 18669"/>
            </a:avLst>
          </a:prstGeom>
          <a:solidFill>
            <a:srgbClr val="31136C"/>
          </a:solidFill>
          <a:ln w="7620">
            <a:solidFill>
              <a:srgbClr val="4A2C85"/>
            </a:solidFill>
            <a:prstDash val="solid"/>
          </a:ln>
        </p:spPr>
      </p:sp>
      <p:sp>
        <p:nvSpPr>
          <p:cNvPr id="8" name="Text 6"/>
          <p:cNvSpPr/>
          <p:nvPr/>
        </p:nvSpPr>
        <p:spPr>
          <a:xfrm>
            <a:off x="5320963" y="3002756"/>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CD7E5"/>
                </a:solidFill>
                <a:latin typeface="Montserrat" pitchFamily="34" charset="0"/>
                <a:ea typeface="Montserrat" pitchFamily="34" charset="-122"/>
                <a:cs typeface="Montserrat" pitchFamily="34" charset="-120"/>
              </a:rPr>
              <a:t>2</a:t>
            </a:r>
            <a:endParaRPr lang="en-US" sz="2650" dirty="0"/>
          </a:p>
        </p:txBody>
      </p:sp>
      <p:sp>
        <p:nvSpPr>
          <p:cNvPr id="9" name="Text 7"/>
          <p:cNvSpPr/>
          <p:nvPr/>
        </p:nvSpPr>
        <p:spPr>
          <a:xfrm>
            <a:off x="5973008" y="3038118"/>
            <a:ext cx="3421499" cy="708660"/>
          </a:xfrm>
          <a:prstGeom prst="rect">
            <a:avLst/>
          </a:prstGeom>
          <a:noFill/>
          <a:ln/>
        </p:spPr>
        <p:txBody>
          <a:bodyPr wrap="square" lIns="0" tIns="0" rIns="0" bIns="0" rtlCol="0" anchor="t"/>
          <a:lstStyle/>
          <a:p>
            <a:pPr marL="0" indent="0" algn="l">
              <a:lnSpc>
                <a:spcPts val="2750"/>
              </a:lnSpc>
              <a:buNone/>
            </a:pPr>
            <a:r>
              <a:rPr lang="en-US" sz="2200" b="1" dirty="0">
                <a:solidFill>
                  <a:srgbClr val="DCD7E5"/>
                </a:solidFill>
                <a:latin typeface="Montserrat" pitchFamily="34" charset="0"/>
                <a:ea typeface="Montserrat" pitchFamily="34" charset="-122"/>
                <a:cs typeface="Montserrat" pitchFamily="34" charset="-120"/>
              </a:rPr>
              <a:t>Preprocessing &amp; Cleaning</a:t>
            </a:r>
            <a:endParaRPr lang="en-US" sz="2200" b="1" dirty="0"/>
          </a:p>
        </p:txBody>
      </p:sp>
      <p:sp>
        <p:nvSpPr>
          <p:cNvPr id="10" name="Text 8"/>
          <p:cNvSpPr/>
          <p:nvPr/>
        </p:nvSpPr>
        <p:spPr>
          <a:xfrm>
            <a:off x="5661125" y="4254341"/>
            <a:ext cx="3421499" cy="1451610"/>
          </a:xfrm>
          <a:prstGeom prst="rect">
            <a:avLst/>
          </a:prstGeom>
          <a:noFill/>
          <a:ln/>
        </p:spPr>
        <p:txBody>
          <a:bodyPr wrap="square" lIns="0" tIns="0" rIns="0" bIns="0" rtlCol="0" anchor="t"/>
          <a:lstStyle/>
          <a:p>
            <a:pPr marL="0" indent="0" algn="l">
              <a:lnSpc>
                <a:spcPts val="2850"/>
              </a:lnSpc>
              <a:buNone/>
            </a:pPr>
            <a:r>
              <a:rPr lang="en-US" sz="1750" dirty="0">
                <a:solidFill>
                  <a:srgbClr val="DCD7E5"/>
                </a:solidFill>
                <a:latin typeface="Goudy Old Style" panose="02020502050305020303" pitchFamily="18" charset="0"/>
                <a:ea typeface="Heebo Light" pitchFamily="34" charset="-122"/>
                <a:cs typeface="Heebo Light" pitchFamily="34" charset="-120"/>
              </a:rPr>
              <a:t>Crucial steps include filtering irrelevant comments, removing noise like URLs, and handling emojis to ensure data quality.</a:t>
            </a:r>
            <a:endParaRPr lang="en-US" sz="1750" dirty="0">
              <a:latin typeface="Goudy Old Style" panose="02020502050305020303" pitchFamily="18" charset="0"/>
            </a:endParaRPr>
          </a:p>
        </p:txBody>
      </p:sp>
      <p:sp>
        <p:nvSpPr>
          <p:cNvPr id="11" name="Shape 9"/>
          <p:cNvSpPr/>
          <p:nvPr/>
        </p:nvSpPr>
        <p:spPr>
          <a:xfrm>
            <a:off x="9677995" y="2960251"/>
            <a:ext cx="510302" cy="510302"/>
          </a:xfrm>
          <a:prstGeom prst="roundRect">
            <a:avLst>
              <a:gd name="adj" fmla="val 18669"/>
            </a:avLst>
          </a:prstGeom>
          <a:solidFill>
            <a:srgbClr val="31136C"/>
          </a:solidFill>
          <a:ln w="7620">
            <a:solidFill>
              <a:srgbClr val="4A2C85"/>
            </a:solidFill>
            <a:prstDash val="solid"/>
          </a:ln>
        </p:spPr>
      </p:sp>
      <p:sp>
        <p:nvSpPr>
          <p:cNvPr id="12" name="Text 10"/>
          <p:cNvSpPr/>
          <p:nvPr/>
        </p:nvSpPr>
        <p:spPr>
          <a:xfrm>
            <a:off x="9763065" y="3002756"/>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DCD7E5"/>
                </a:solidFill>
                <a:latin typeface="Montserrat" pitchFamily="34" charset="0"/>
                <a:ea typeface="Montserrat" pitchFamily="34" charset="-122"/>
                <a:cs typeface="Montserrat" pitchFamily="34" charset="-120"/>
              </a:rPr>
              <a:t>3</a:t>
            </a:r>
            <a:endParaRPr lang="en-US" sz="2650" dirty="0"/>
          </a:p>
        </p:txBody>
      </p:sp>
      <p:sp>
        <p:nvSpPr>
          <p:cNvPr id="13" name="Text 11"/>
          <p:cNvSpPr/>
          <p:nvPr/>
        </p:nvSpPr>
        <p:spPr>
          <a:xfrm>
            <a:off x="10491072" y="300275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CD7E5"/>
                </a:solidFill>
                <a:latin typeface="Montserrat" pitchFamily="34" charset="0"/>
                <a:ea typeface="Montserrat" pitchFamily="34" charset="-122"/>
                <a:cs typeface="Montserrat" pitchFamily="34" charset="-120"/>
              </a:rPr>
              <a:t>Tools</a:t>
            </a:r>
          </a:p>
          <a:p>
            <a:pPr marL="0" indent="0" algn="l">
              <a:lnSpc>
                <a:spcPts val="2750"/>
              </a:lnSpc>
              <a:buNone/>
            </a:pPr>
            <a:endParaRPr lang="en-US" sz="2200" b="1" dirty="0"/>
          </a:p>
        </p:txBody>
      </p:sp>
      <p:sp>
        <p:nvSpPr>
          <p:cNvPr id="14" name="Text 12"/>
          <p:cNvSpPr/>
          <p:nvPr/>
        </p:nvSpPr>
        <p:spPr>
          <a:xfrm>
            <a:off x="10277951" y="4114800"/>
            <a:ext cx="3421499" cy="2903220"/>
          </a:xfrm>
          <a:prstGeom prst="rect">
            <a:avLst/>
          </a:prstGeom>
          <a:noFill/>
          <a:ln/>
        </p:spPr>
        <p:txBody>
          <a:bodyPr wrap="square" lIns="0" tIns="0" rIns="0" bIns="0" rtlCol="0" anchor="t"/>
          <a:lstStyle/>
          <a:p>
            <a:pPr>
              <a:lnSpc>
                <a:spcPts val="2850"/>
              </a:lnSpc>
            </a:pPr>
            <a:r>
              <a:rPr lang="en-US" sz="1600" b="1" dirty="0"/>
              <a:t>Basic Python</a:t>
            </a:r>
            <a:r>
              <a:rPr lang="en-US" sz="1600" dirty="0"/>
              <a:t> </a:t>
            </a:r>
            <a:r>
              <a:rPr lang="en-US" sz="1600" dirty="0">
                <a:latin typeface="Goudy Old Style" panose="02020502050305020303" pitchFamily="18" charset="0"/>
              </a:rPr>
              <a:t>– for cleaning and preparing text.</a:t>
            </a:r>
          </a:p>
          <a:p>
            <a:pPr>
              <a:lnSpc>
                <a:spcPts val="2850"/>
              </a:lnSpc>
            </a:pPr>
            <a:r>
              <a:rPr lang="en-US" sz="1600" b="1" dirty="0"/>
              <a:t>VADER</a:t>
            </a:r>
            <a:r>
              <a:rPr lang="en-US" sz="1600" dirty="0"/>
              <a:t> – </a:t>
            </a:r>
            <a:r>
              <a:rPr lang="en-US" sz="1600" dirty="0">
                <a:latin typeface="Goudy Old Style" panose="02020502050305020303" pitchFamily="18" charset="0"/>
              </a:rPr>
              <a:t>checks if comments are positive, negative, or neutral</a:t>
            </a:r>
            <a:r>
              <a:rPr lang="en-US" sz="1600" dirty="0"/>
              <a:t>.</a:t>
            </a:r>
          </a:p>
          <a:p>
            <a:pPr>
              <a:lnSpc>
                <a:spcPts val="2850"/>
              </a:lnSpc>
            </a:pPr>
            <a:r>
              <a:rPr lang="en-IN" sz="1600" b="1" dirty="0"/>
              <a:t>Emoji package</a:t>
            </a:r>
            <a:r>
              <a:rPr lang="en-IN" sz="1600" dirty="0"/>
              <a:t> </a:t>
            </a:r>
            <a:r>
              <a:rPr lang="en-IN" sz="1600" dirty="0">
                <a:latin typeface="Goudy Old Style" panose="02020502050305020303" pitchFamily="18" charset="0"/>
              </a:rPr>
              <a:t>– helps understand emoji feelings.</a:t>
            </a:r>
            <a:endParaRPr lang="en-US" sz="1750" dirty="0">
              <a:latin typeface="Goudy Old Style" panose="02020502050305020303"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706993"/>
            <a:ext cx="7193875" cy="708779"/>
          </a:xfrm>
          <a:prstGeom prst="rect">
            <a:avLst/>
          </a:prstGeom>
          <a:noFill/>
          <a:ln/>
        </p:spPr>
        <p:txBody>
          <a:bodyPr wrap="none" lIns="0" tIns="0" rIns="0" bIns="0" rtlCol="0" anchor="t"/>
          <a:lstStyle/>
          <a:p>
            <a:pPr marL="0" indent="0" algn="l">
              <a:lnSpc>
                <a:spcPts val="5550"/>
              </a:lnSpc>
              <a:buNone/>
            </a:pPr>
            <a:r>
              <a:rPr lang="en-US" sz="4800" b="1" dirty="0">
                <a:solidFill>
                  <a:srgbClr val="F2F0F4"/>
                </a:solidFill>
                <a:latin typeface="Montserrat" pitchFamily="34" charset="0"/>
                <a:ea typeface="Montserrat" pitchFamily="34" charset="-122"/>
                <a:cs typeface="Montserrat" pitchFamily="34" charset="-120"/>
              </a:rPr>
              <a:t>EXPECTED OUTCOME</a:t>
            </a:r>
            <a:endParaRPr lang="en-US" sz="4800" b="1" dirty="0"/>
          </a:p>
        </p:txBody>
      </p:sp>
      <p:pic>
        <p:nvPicPr>
          <p:cNvPr id="3" name="Image 0" descr="preencoded.png"/>
          <p:cNvPicPr>
            <a:picLocks noChangeAspect="1"/>
          </p:cNvPicPr>
          <p:nvPr/>
        </p:nvPicPr>
        <p:blipFill>
          <a:blip r:embed="rId3"/>
          <a:stretch>
            <a:fillRect/>
          </a:stretch>
        </p:blipFill>
        <p:spPr>
          <a:xfrm>
            <a:off x="793790" y="1869400"/>
            <a:ext cx="680442" cy="680442"/>
          </a:xfrm>
          <a:prstGeom prst="rect">
            <a:avLst/>
          </a:prstGeom>
        </p:spPr>
      </p:pic>
      <p:sp>
        <p:nvSpPr>
          <p:cNvPr id="4" name="Text 1"/>
          <p:cNvSpPr/>
          <p:nvPr/>
        </p:nvSpPr>
        <p:spPr>
          <a:xfrm>
            <a:off x="793790" y="2833330"/>
            <a:ext cx="3263384" cy="354330"/>
          </a:xfrm>
          <a:prstGeom prst="rect">
            <a:avLst/>
          </a:prstGeom>
          <a:noFill/>
          <a:ln/>
        </p:spPr>
        <p:txBody>
          <a:bodyPr wrap="none" lIns="0" tIns="0" rIns="0" bIns="0" rtlCol="0" anchor="t"/>
          <a:lstStyle/>
          <a:p>
            <a:pPr marL="0" indent="0" algn="l">
              <a:lnSpc>
                <a:spcPts val="2750"/>
              </a:lnSpc>
              <a:buNone/>
            </a:pPr>
            <a:r>
              <a:rPr lang="en-US" sz="2200" b="1" dirty="0">
                <a:solidFill>
                  <a:srgbClr val="DCD7E5"/>
                </a:solidFill>
                <a:latin typeface="Montserrat" pitchFamily="34" charset="0"/>
                <a:ea typeface="Montserrat" pitchFamily="34" charset="-122"/>
                <a:cs typeface="Montserrat" pitchFamily="34" charset="-120"/>
              </a:rPr>
              <a:t>Content Enhancement</a:t>
            </a:r>
            <a:endParaRPr lang="en-US" sz="2200" b="1" dirty="0"/>
          </a:p>
        </p:txBody>
      </p:sp>
      <p:sp>
        <p:nvSpPr>
          <p:cNvPr id="5" name="Text 2"/>
          <p:cNvSpPr/>
          <p:nvPr/>
        </p:nvSpPr>
        <p:spPr>
          <a:xfrm>
            <a:off x="793790" y="3323749"/>
            <a:ext cx="6379607" cy="1088708"/>
          </a:xfrm>
          <a:prstGeom prst="rect">
            <a:avLst/>
          </a:prstGeom>
          <a:noFill/>
          <a:ln/>
        </p:spPr>
        <p:txBody>
          <a:bodyPr wrap="square" lIns="0" tIns="0" rIns="0" bIns="0" rtlCol="0" anchor="t"/>
          <a:lstStyle/>
          <a:p>
            <a:pPr>
              <a:lnSpc>
                <a:spcPts val="2850"/>
              </a:lnSpc>
            </a:pPr>
            <a:r>
              <a:rPr lang="en-US" sz="1750" dirty="0">
                <a:solidFill>
                  <a:srgbClr val="DCD7E5"/>
                </a:solidFill>
                <a:latin typeface="Goudy Old Style" panose="02020502050305020303" pitchFamily="18" charset="0"/>
                <a:ea typeface="Heebo Light" pitchFamily="34" charset="-122"/>
                <a:cs typeface="Heebo Light" pitchFamily="34" charset="-120"/>
              </a:rPr>
              <a:t>Identifies what viewers like or dislike. </a:t>
            </a:r>
          </a:p>
          <a:p>
            <a:pPr>
              <a:lnSpc>
                <a:spcPts val="2850"/>
              </a:lnSpc>
            </a:pPr>
            <a:r>
              <a:rPr lang="en-US" sz="1750" dirty="0">
                <a:solidFill>
                  <a:srgbClr val="DCD7E5"/>
                </a:solidFill>
                <a:latin typeface="Goudy Old Style" panose="02020502050305020303" pitchFamily="18" charset="0"/>
                <a:ea typeface="Heebo Light" pitchFamily="34" charset="-122"/>
                <a:cs typeface="Heebo Light" pitchFamily="34" charset="-120"/>
              </a:rPr>
              <a:t>Make better videos using viewer feedback.</a:t>
            </a:r>
            <a:endParaRPr lang="en-US" sz="1750" dirty="0">
              <a:latin typeface="Goudy Old Style" panose="02020502050305020303" pitchFamily="18" charset="0"/>
            </a:endParaRPr>
          </a:p>
        </p:txBody>
      </p:sp>
      <p:pic>
        <p:nvPicPr>
          <p:cNvPr id="6" name="Image 1" descr="preencoded.png"/>
          <p:cNvPicPr>
            <a:picLocks noChangeAspect="1"/>
          </p:cNvPicPr>
          <p:nvPr/>
        </p:nvPicPr>
        <p:blipFill>
          <a:blip r:embed="rId4"/>
          <a:stretch>
            <a:fillRect/>
          </a:stretch>
        </p:blipFill>
        <p:spPr>
          <a:xfrm>
            <a:off x="7456884" y="1869400"/>
            <a:ext cx="680442" cy="680442"/>
          </a:xfrm>
          <a:prstGeom prst="rect">
            <a:avLst/>
          </a:prstGeom>
        </p:spPr>
      </p:pic>
      <p:sp>
        <p:nvSpPr>
          <p:cNvPr id="7" name="Text 3"/>
          <p:cNvSpPr/>
          <p:nvPr/>
        </p:nvSpPr>
        <p:spPr>
          <a:xfrm>
            <a:off x="7456884" y="2833330"/>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DCD7E5"/>
                </a:solidFill>
                <a:latin typeface="Montserrat" pitchFamily="34" charset="0"/>
                <a:ea typeface="Montserrat" pitchFamily="34" charset="-122"/>
                <a:cs typeface="Montserrat" pitchFamily="34" charset="-120"/>
              </a:rPr>
              <a:t>Crisis Prevention</a:t>
            </a:r>
            <a:endParaRPr lang="en-US" sz="2200" b="1" dirty="0"/>
          </a:p>
        </p:txBody>
      </p:sp>
      <p:sp>
        <p:nvSpPr>
          <p:cNvPr id="8" name="Text 4"/>
          <p:cNvSpPr/>
          <p:nvPr/>
        </p:nvSpPr>
        <p:spPr>
          <a:xfrm>
            <a:off x="7456884" y="3323749"/>
            <a:ext cx="6379726" cy="725805"/>
          </a:xfrm>
          <a:prstGeom prst="rect">
            <a:avLst/>
          </a:prstGeom>
          <a:noFill/>
          <a:ln/>
        </p:spPr>
        <p:txBody>
          <a:bodyPr wrap="square" lIns="0" tIns="0" rIns="0" bIns="0" rtlCol="0" anchor="t"/>
          <a:lstStyle/>
          <a:p>
            <a:pPr>
              <a:lnSpc>
                <a:spcPts val="2850"/>
              </a:lnSpc>
            </a:pPr>
            <a:r>
              <a:rPr lang="en-US" sz="1750" dirty="0">
                <a:solidFill>
                  <a:srgbClr val="DCD7E5"/>
                </a:solidFill>
                <a:latin typeface="Goudy Old Style" panose="02020502050305020303" pitchFamily="18" charset="0"/>
                <a:ea typeface="Heebo Light" pitchFamily="34" charset="-122"/>
                <a:cs typeface="Heebo Light" pitchFamily="34" charset="-120"/>
              </a:rPr>
              <a:t>Detect and respond early to negative feedback that could damage </a:t>
            </a:r>
            <a:r>
              <a:rPr lang="en-US" sz="1750" dirty="0" err="1">
                <a:solidFill>
                  <a:srgbClr val="DCD7E5"/>
                </a:solidFill>
                <a:latin typeface="Goudy Old Style" panose="02020502050305020303" pitchFamily="18" charset="0"/>
                <a:ea typeface="Heebo Light" pitchFamily="34" charset="-122"/>
                <a:cs typeface="Heebo Light" pitchFamily="34" charset="-120"/>
              </a:rPr>
              <a:t>reputation.Protects</a:t>
            </a:r>
            <a:r>
              <a:rPr lang="en-US" sz="1750" dirty="0">
                <a:solidFill>
                  <a:srgbClr val="DCD7E5"/>
                </a:solidFill>
                <a:latin typeface="Goudy Old Style" panose="02020502050305020303" pitchFamily="18" charset="0"/>
                <a:ea typeface="Heebo Light" pitchFamily="34" charset="-122"/>
                <a:cs typeface="Heebo Light" pitchFamily="34" charset="-120"/>
              </a:rPr>
              <a:t> reputation, avoids backlash</a:t>
            </a:r>
            <a:endParaRPr lang="en-US" sz="1750" dirty="0">
              <a:latin typeface="Goudy Old Style" panose="02020502050305020303" pitchFamily="18" charset="0"/>
            </a:endParaRPr>
          </a:p>
        </p:txBody>
      </p:sp>
      <p:pic>
        <p:nvPicPr>
          <p:cNvPr id="9" name="Image 2" descr="preencoded.png"/>
          <p:cNvPicPr>
            <a:picLocks noChangeAspect="1"/>
          </p:cNvPicPr>
          <p:nvPr/>
        </p:nvPicPr>
        <p:blipFill>
          <a:blip r:embed="rId5"/>
          <a:stretch>
            <a:fillRect/>
          </a:stretch>
        </p:blipFill>
        <p:spPr>
          <a:xfrm>
            <a:off x="793790" y="4979432"/>
            <a:ext cx="680442" cy="680442"/>
          </a:xfrm>
          <a:prstGeom prst="rect">
            <a:avLst/>
          </a:prstGeom>
        </p:spPr>
      </p:pic>
      <p:sp>
        <p:nvSpPr>
          <p:cNvPr id="10" name="Text 5"/>
          <p:cNvSpPr/>
          <p:nvPr/>
        </p:nvSpPr>
        <p:spPr>
          <a:xfrm>
            <a:off x="793790" y="5943362"/>
            <a:ext cx="3206710" cy="354330"/>
          </a:xfrm>
          <a:prstGeom prst="rect">
            <a:avLst/>
          </a:prstGeom>
          <a:noFill/>
          <a:ln/>
        </p:spPr>
        <p:txBody>
          <a:bodyPr wrap="none" lIns="0" tIns="0" rIns="0" bIns="0" rtlCol="0" anchor="t"/>
          <a:lstStyle/>
          <a:p>
            <a:pPr marL="0" indent="0" algn="l">
              <a:lnSpc>
                <a:spcPts val="2750"/>
              </a:lnSpc>
              <a:buNone/>
            </a:pPr>
            <a:r>
              <a:rPr lang="en-US" sz="2200" b="1" dirty="0">
                <a:solidFill>
                  <a:srgbClr val="DCD7E5"/>
                </a:solidFill>
                <a:latin typeface="Montserrat" pitchFamily="34" charset="0"/>
                <a:ea typeface="Montserrat" pitchFamily="34" charset="-122"/>
                <a:cs typeface="Montserrat" pitchFamily="34" charset="-120"/>
              </a:rPr>
              <a:t>Marketing Intelligence</a:t>
            </a:r>
            <a:endParaRPr lang="en-US" sz="2200" b="1" dirty="0"/>
          </a:p>
        </p:txBody>
      </p:sp>
      <p:sp>
        <p:nvSpPr>
          <p:cNvPr id="11" name="Text 6"/>
          <p:cNvSpPr/>
          <p:nvPr/>
        </p:nvSpPr>
        <p:spPr>
          <a:xfrm>
            <a:off x="793790" y="6433780"/>
            <a:ext cx="6379607" cy="1088708"/>
          </a:xfrm>
          <a:prstGeom prst="rect">
            <a:avLst/>
          </a:prstGeom>
          <a:noFill/>
          <a:ln/>
        </p:spPr>
        <p:txBody>
          <a:bodyPr wrap="square" lIns="0" tIns="0" rIns="0" bIns="0" rtlCol="0" anchor="t"/>
          <a:lstStyle/>
          <a:p>
            <a:pPr>
              <a:lnSpc>
                <a:spcPts val="2850"/>
              </a:lnSpc>
            </a:pPr>
            <a:r>
              <a:rPr lang="en-US" sz="1750" dirty="0">
                <a:solidFill>
                  <a:srgbClr val="DCD7E5"/>
                </a:solidFill>
                <a:latin typeface="Goudy Old Style" panose="02020502050305020303" pitchFamily="18" charset="0"/>
                <a:ea typeface="Heebo Light" pitchFamily="34" charset="-122"/>
                <a:cs typeface="Heebo Light" pitchFamily="34" charset="-120"/>
              </a:rPr>
              <a:t>Identifies what products or services people are talking about positively/negatively.</a:t>
            </a:r>
            <a:endParaRPr lang="en-US" sz="1750" dirty="0">
              <a:latin typeface="Goudy Old Style" panose="02020502050305020303" pitchFamily="18" charset="0"/>
            </a:endParaRPr>
          </a:p>
        </p:txBody>
      </p:sp>
      <p:pic>
        <p:nvPicPr>
          <p:cNvPr id="12" name="Image 3" descr="preencoded.png"/>
          <p:cNvPicPr>
            <a:picLocks noChangeAspect="1"/>
          </p:cNvPicPr>
          <p:nvPr/>
        </p:nvPicPr>
        <p:blipFill>
          <a:blip r:embed="rId6"/>
          <a:stretch>
            <a:fillRect/>
          </a:stretch>
        </p:blipFill>
        <p:spPr>
          <a:xfrm>
            <a:off x="7456884" y="4979432"/>
            <a:ext cx="680442" cy="680442"/>
          </a:xfrm>
          <a:prstGeom prst="rect">
            <a:avLst/>
          </a:prstGeom>
        </p:spPr>
      </p:pic>
      <p:sp>
        <p:nvSpPr>
          <p:cNvPr id="13" name="Text 7"/>
          <p:cNvSpPr/>
          <p:nvPr/>
        </p:nvSpPr>
        <p:spPr>
          <a:xfrm>
            <a:off x="7456884" y="5943362"/>
            <a:ext cx="2909649" cy="354330"/>
          </a:xfrm>
          <a:prstGeom prst="rect">
            <a:avLst/>
          </a:prstGeom>
          <a:noFill/>
          <a:ln/>
        </p:spPr>
        <p:txBody>
          <a:bodyPr wrap="none" lIns="0" tIns="0" rIns="0" bIns="0" rtlCol="0" anchor="t"/>
          <a:lstStyle/>
          <a:p>
            <a:pPr marL="0" indent="0" algn="l">
              <a:lnSpc>
                <a:spcPts val="2750"/>
              </a:lnSpc>
              <a:buNone/>
            </a:pPr>
            <a:r>
              <a:rPr lang="en-US" sz="2200" b="1" dirty="0">
                <a:solidFill>
                  <a:srgbClr val="DCD7E5"/>
                </a:solidFill>
                <a:latin typeface="Montserrat" pitchFamily="34" charset="0"/>
                <a:ea typeface="Montserrat" pitchFamily="34" charset="-122"/>
                <a:cs typeface="Montserrat" pitchFamily="34" charset="-120"/>
              </a:rPr>
              <a:t>Automated Tracking</a:t>
            </a:r>
            <a:endParaRPr lang="en-US" sz="2200" b="1" dirty="0"/>
          </a:p>
        </p:txBody>
      </p:sp>
      <p:sp>
        <p:nvSpPr>
          <p:cNvPr id="14" name="Text 8"/>
          <p:cNvSpPr/>
          <p:nvPr/>
        </p:nvSpPr>
        <p:spPr>
          <a:xfrm>
            <a:off x="7456884" y="6433780"/>
            <a:ext cx="6379726" cy="1088708"/>
          </a:xfrm>
          <a:prstGeom prst="rect">
            <a:avLst/>
          </a:prstGeom>
          <a:noFill/>
          <a:ln/>
        </p:spPr>
        <p:txBody>
          <a:bodyPr wrap="square" lIns="0" tIns="0" rIns="0" bIns="0" rtlCol="0" anchor="t"/>
          <a:lstStyle/>
          <a:p>
            <a:pPr>
              <a:lnSpc>
                <a:spcPts val="2850"/>
              </a:lnSpc>
            </a:pPr>
            <a:r>
              <a:rPr lang="en-US" sz="1750" dirty="0">
                <a:solidFill>
                  <a:srgbClr val="DCD7E5"/>
                </a:solidFill>
                <a:latin typeface="Goudy Old Style" panose="02020502050305020303" pitchFamily="18" charset="0"/>
                <a:ea typeface="Heebo Light" pitchFamily="34" charset="-122"/>
                <a:cs typeface="Heebo Light" pitchFamily="34" charset="-120"/>
              </a:rPr>
              <a:t>Using software to automatically check and understand comment sentiments (positive, negative, or neutral) over time.</a:t>
            </a:r>
            <a:endParaRPr lang="en-US" sz="1750" dirty="0">
              <a:latin typeface="Goudy Old Style" panose="02020502050305020303"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75746" y="1184672"/>
            <a:ext cx="8135064" cy="630079"/>
          </a:xfrm>
          <a:prstGeom prst="rect">
            <a:avLst/>
          </a:prstGeom>
          <a:noFill/>
          <a:ln/>
        </p:spPr>
        <p:txBody>
          <a:bodyPr wrap="none" lIns="0" tIns="0" rIns="0" bIns="0" rtlCol="0" anchor="t"/>
          <a:lstStyle/>
          <a:p>
            <a:pPr marL="0" indent="0" algn="l">
              <a:lnSpc>
                <a:spcPts val="4950"/>
              </a:lnSpc>
              <a:buNone/>
            </a:pPr>
            <a:r>
              <a:rPr lang="en-US" sz="4400" b="1" dirty="0">
                <a:solidFill>
                  <a:srgbClr val="F2F0F4"/>
                </a:solidFill>
                <a:latin typeface="Montserrat" pitchFamily="34" charset="0"/>
                <a:ea typeface="Montserrat" pitchFamily="34" charset="-122"/>
                <a:cs typeface="Montserrat" pitchFamily="34" charset="-120"/>
              </a:rPr>
              <a:t>Future Scope</a:t>
            </a:r>
            <a:endParaRPr lang="en-US" sz="4400" b="1" dirty="0"/>
          </a:p>
        </p:txBody>
      </p:sp>
      <p:sp>
        <p:nvSpPr>
          <p:cNvPr id="5" name="Text 2"/>
          <p:cNvSpPr/>
          <p:nvPr/>
        </p:nvSpPr>
        <p:spPr>
          <a:xfrm>
            <a:off x="775746" y="2366634"/>
            <a:ext cx="3390067" cy="315039"/>
          </a:xfrm>
          <a:prstGeom prst="rect">
            <a:avLst/>
          </a:prstGeom>
          <a:noFill/>
          <a:ln/>
        </p:spPr>
        <p:txBody>
          <a:bodyPr wrap="none" lIns="0" tIns="0" rIns="0" bIns="0" rtlCol="0" anchor="t"/>
          <a:lstStyle/>
          <a:p>
            <a:pPr>
              <a:lnSpc>
                <a:spcPts val="2450"/>
              </a:lnSpc>
            </a:pPr>
            <a:r>
              <a:rPr lang="en-US" sz="2000" b="1" dirty="0"/>
              <a:t>Better Understanding of Large Audiences </a:t>
            </a:r>
          </a:p>
          <a:p>
            <a:pPr>
              <a:lnSpc>
                <a:spcPts val="2450"/>
              </a:lnSpc>
            </a:pPr>
            <a:endParaRPr lang="en-US" sz="2000" b="1" dirty="0"/>
          </a:p>
          <a:p>
            <a:pPr>
              <a:lnSpc>
                <a:spcPts val="2450"/>
              </a:lnSpc>
            </a:pPr>
            <a:r>
              <a:rPr lang="en-US" sz="2000" dirty="0">
                <a:latin typeface="Goudy Old Style" panose="02020502050305020303" pitchFamily="18" charset="0"/>
              </a:rPr>
              <a:t>As more people comment on videos, sentiment analysis can help</a:t>
            </a:r>
          </a:p>
          <a:p>
            <a:pPr>
              <a:lnSpc>
                <a:spcPts val="2450"/>
              </a:lnSpc>
            </a:pPr>
            <a:r>
              <a:rPr lang="en-US" sz="2000" dirty="0">
                <a:latin typeface="Goudy Old Style" panose="02020502050305020303" pitchFamily="18" charset="0"/>
              </a:rPr>
              <a:t>creators and brands understand public opinion on a larger scale</a:t>
            </a:r>
            <a:r>
              <a:rPr lang="en-US" sz="2000" dirty="0"/>
              <a:t>.</a:t>
            </a:r>
            <a:endParaRPr lang="en-US" sz="1950" dirty="0">
              <a:latin typeface="Goudy Old Style" panose="02020502050305020303" pitchFamily="18" charset="0"/>
            </a:endParaRPr>
          </a:p>
        </p:txBody>
      </p:sp>
      <p:sp>
        <p:nvSpPr>
          <p:cNvPr id="10" name="Text 6"/>
          <p:cNvSpPr/>
          <p:nvPr/>
        </p:nvSpPr>
        <p:spPr>
          <a:xfrm>
            <a:off x="705683" y="4178675"/>
            <a:ext cx="6600111" cy="322421"/>
          </a:xfrm>
          <a:prstGeom prst="rect">
            <a:avLst/>
          </a:prstGeom>
          <a:noFill/>
          <a:ln/>
        </p:spPr>
        <p:txBody>
          <a:bodyPr wrap="none" lIns="0" tIns="0" rIns="0" bIns="0" rtlCol="0" anchor="t"/>
          <a:lstStyle/>
          <a:p>
            <a:pPr>
              <a:lnSpc>
                <a:spcPts val="2500"/>
              </a:lnSpc>
            </a:pPr>
            <a:r>
              <a:rPr lang="en-US" sz="1600" b="1" dirty="0"/>
              <a:t>Handling Complex Language</a:t>
            </a:r>
          </a:p>
          <a:p>
            <a:pPr>
              <a:lnSpc>
                <a:spcPts val="2500"/>
              </a:lnSpc>
            </a:pPr>
            <a:endParaRPr lang="en-US" sz="1600" b="1" dirty="0"/>
          </a:p>
          <a:p>
            <a:pPr>
              <a:lnSpc>
                <a:spcPts val="2500"/>
              </a:lnSpc>
            </a:pPr>
            <a:r>
              <a:rPr lang="en-US" sz="1600" dirty="0">
                <a:latin typeface="Goudy Old Style" panose="02020502050305020303" pitchFamily="18" charset="0"/>
              </a:rPr>
              <a:t>YouTube comments often include slang, sarcasm, and emojis. Future systems will better at understand these tricky parts</a:t>
            </a:r>
            <a:r>
              <a:rPr lang="en-US" sz="1600" dirty="0"/>
              <a:t>.</a:t>
            </a:r>
            <a:endParaRPr lang="en-US" sz="1550" dirty="0">
              <a:latin typeface="Goudy Old Style" panose="02020502050305020303" pitchFamily="18" charset="0"/>
            </a:endParaRPr>
          </a:p>
        </p:txBody>
      </p:sp>
      <p:sp>
        <p:nvSpPr>
          <p:cNvPr id="15" name="Text 10"/>
          <p:cNvSpPr/>
          <p:nvPr/>
        </p:nvSpPr>
        <p:spPr>
          <a:xfrm>
            <a:off x="705683" y="5851742"/>
            <a:ext cx="6271736" cy="322421"/>
          </a:xfrm>
          <a:prstGeom prst="rect">
            <a:avLst/>
          </a:prstGeom>
          <a:noFill/>
          <a:ln/>
        </p:spPr>
        <p:txBody>
          <a:bodyPr wrap="none" lIns="0" tIns="0" rIns="0" bIns="0" rtlCol="0" anchor="t"/>
          <a:lstStyle/>
          <a:p>
            <a:pPr>
              <a:lnSpc>
                <a:spcPts val="2500"/>
              </a:lnSpc>
            </a:pPr>
            <a:r>
              <a:rPr lang="en-US" sz="1600" b="1" dirty="0"/>
              <a:t>Smarter AI Analysis</a:t>
            </a:r>
          </a:p>
          <a:p>
            <a:pPr>
              <a:lnSpc>
                <a:spcPts val="2500"/>
              </a:lnSpc>
            </a:pPr>
            <a:endParaRPr lang="en-US" sz="1600" dirty="0"/>
          </a:p>
          <a:p>
            <a:pPr>
              <a:lnSpc>
                <a:spcPts val="2500"/>
              </a:lnSpc>
            </a:pPr>
            <a:r>
              <a:rPr lang="en-US" sz="1600" dirty="0">
                <a:latin typeface="Goudy Old Style" panose="02020502050305020303" pitchFamily="18" charset="0"/>
              </a:rPr>
              <a:t>AI can be used to analyze comments in real time, helping creators respond quickly and improve content based on viewer feedback.</a:t>
            </a:r>
            <a:endParaRPr lang="en-US" sz="1550" dirty="0">
              <a:latin typeface="Goudy Old Style" panose="02020502050305020303"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2B705C-0EBB-07A2-E624-1ED6A3FE00DE}"/>
              </a:ext>
            </a:extLst>
          </p:cNvPr>
          <p:cNvSpPr txBox="1"/>
          <p:nvPr/>
        </p:nvSpPr>
        <p:spPr>
          <a:xfrm>
            <a:off x="591016" y="1644808"/>
            <a:ext cx="11229278" cy="2062103"/>
          </a:xfrm>
          <a:prstGeom prst="rect">
            <a:avLst/>
          </a:prstGeom>
          <a:noFill/>
        </p:spPr>
        <p:txBody>
          <a:bodyPr wrap="square" rtlCol="0">
            <a:spAutoFit/>
          </a:bodyPr>
          <a:lstStyle/>
          <a:p>
            <a:r>
              <a:rPr lang="en-US" sz="1600" b="1" dirty="0">
                <a:latin typeface="Goudy Old Style" panose="02020502050305020303" pitchFamily="18" charset="0"/>
                <a:cs typeface="Microsoft Tai Le" panose="020B0502040204020203" pitchFamily="34" charset="0"/>
              </a:rPr>
              <a:t>This research focuses on classifying YouTube comments into positive, negative, or neutral categories to analyze public opinion trends and their link to real-world events. A dataset of 1,500 annotated sentences was preprocessed using techniques like </a:t>
            </a:r>
            <a:r>
              <a:rPr lang="en-US" sz="1600" b="1" dirty="0" err="1">
                <a:latin typeface="Goudy Old Style" panose="02020502050305020303" pitchFamily="18" charset="0"/>
                <a:cs typeface="Microsoft Tai Le" panose="020B0502040204020203" pitchFamily="34" charset="0"/>
              </a:rPr>
              <a:t>stopword</a:t>
            </a:r>
            <a:r>
              <a:rPr lang="en-US" sz="1600" b="1" dirty="0">
                <a:latin typeface="Goudy Old Style" panose="02020502050305020303" pitchFamily="18" charset="0"/>
                <a:cs typeface="Microsoft Tai Le" panose="020B0502040204020203" pitchFamily="34" charset="0"/>
              </a:rPr>
              <a:t> and punctuation removal, lemmatization, and feature extraction through unigram, bigram, and trigram models. Six machine learning classifiers—Naïve Bayes, Support Vector Machine (SVM), Logistic Regression, Decision Tree, K-Nearest </a:t>
            </a:r>
            <a:r>
              <a:rPr lang="en-US" sz="1600" b="1" dirty="0" err="1">
                <a:latin typeface="Goudy Old Style" panose="02020502050305020303" pitchFamily="18" charset="0"/>
                <a:cs typeface="Microsoft Tai Le" panose="020B0502040204020203" pitchFamily="34" charset="0"/>
              </a:rPr>
              <a:t>Neighbour</a:t>
            </a:r>
            <a:r>
              <a:rPr lang="en-US" sz="1600" b="1" dirty="0">
                <a:latin typeface="Goudy Old Style" panose="02020502050305020303" pitchFamily="18" charset="0"/>
                <a:cs typeface="Microsoft Tai Le" panose="020B0502040204020203" pitchFamily="34" charset="0"/>
              </a:rPr>
              <a:t>, and Random Forest—were implemented, with performance measured using accuracy, Macro-F Score, and Micro-F Score. SVM achieved the highest accuracy overall, followed by Naïve Bayes and Random Forest, while unigram features provided the most consistent results. The study highlights that effective text preprocessing and feature selection can significantly enhance sentiment classification, and suggests future improvements through larger multilingual datasets, deep learning models, and real-time sentiment monitoring systems.</a:t>
            </a:r>
            <a:endParaRPr lang="en-IN" sz="1600" b="1" dirty="0">
              <a:latin typeface="Goudy Old Style" panose="02020502050305020303" pitchFamily="18" charset="0"/>
              <a:cs typeface="Microsoft Tai Le" panose="020B0502040204020203" pitchFamily="34" charset="0"/>
            </a:endParaRPr>
          </a:p>
        </p:txBody>
      </p:sp>
      <p:sp>
        <p:nvSpPr>
          <p:cNvPr id="3" name="TextBox 2">
            <a:extLst>
              <a:ext uri="{FF2B5EF4-FFF2-40B4-BE49-F238E27FC236}">
                <a16:creationId xmlns:a16="http://schemas.microsoft.com/office/drawing/2014/main" id="{BFD248DC-C49B-F431-8D16-E446E117AD87}"/>
              </a:ext>
            </a:extLst>
          </p:cNvPr>
          <p:cNvSpPr txBox="1"/>
          <p:nvPr/>
        </p:nvSpPr>
        <p:spPr>
          <a:xfrm>
            <a:off x="591016" y="662599"/>
            <a:ext cx="5999356" cy="646331"/>
          </a:xfrm>
          <a:prstGeom prst="rect">
            <a:avLst/>
          </a:prstGeom>
          <a:noFill/>
        </p:spPr>
        <p:txBody>
          <a:bodyPr wrap="square" rtlCol="0">
            <a:spAutoFit/>
          </a:bodyPr>
          <a:lstStyle/>
          <a:p>
            <a:r>
              <a:rPr lang="en-IN" sz="3600" b="1" dirty="0"/>
              <a:t>SUMMARY</a:t>
            </a:r>
          </a:p>
        </p:txBody>
      </p:sp>
      <p:sp>
        <p:nvSpPr>
          <p:cNvPr id="4" name="TextBox 3">
            <a:extLst>
              <a:ext uri="{FF2B5EF4-FFF2-40B4-BE49-F238E27FC236}">
                <a16:creationId xmlns:a16="http://schemas.microsoft.com/office/drawing/2014/main" id="{C94FB65A-6757-2CD8-8CA0-F610E88734FA}"/>
              </a:ext>
            </a:extLst>
          </p:cNvPr>
          <p:cNvSpPr txBox="1"/>
          <p:nvPr/>
        </p:nvSpPr>
        <p:spPr>
          <a:xfrm>
            <a:off x="591016" y="4042789"/>
            <a:ext cx="2776654" cy="523220"/>
          </a:xfrm>
          <a:prstGeom prst="rect">
            <a:avLst/>
          </a:prstGeom>
          <a:noFill/>
        </p:spPr>
        <p:txBody>
          <a:bodyPr wrap="square" rtlCol="0">
            <a:spAutoFit/>
          </a:bodyPr>
          <a:lstStyle/>
          <a:p>
            <a:r>
              <a:rPr lang="en-IN" sz="2800" b="1" dirty="0"/>
              <a:t>Drawbacks</a:t>
            </a:r>
          </a:p>
        </p:txBody>
      </p:sp>
      <p:sp>
        <p:nvSpPr>
          <p:cNvPr id="7" name="Rectangle 2">
            <a:extLst>
              <a:ext uri="{FF2B5EF4-FFF2-40B4-BE49-F238E27FC236}">
                <a16:creationId xmlns:a16="http://schemas.microsoft.com/office/drawing/2014/main" id="{9A556653-0D4E-283C-69A9-5F52052D682E}"/>
              </a:ext>
            </a:extLst>
          </p:cNvPr>
          <p:cNvSpPr>
            <a:spLocks noChangeArrowheads="1"/>
          </p:cNvSpPr>
          <p:nvPr/>
        </p:nvSpPr>
        <p:spPr bwMode="auto">
          <a:xfrm>
            <a:off x="439168" y="4714917"/>
            <a:ext cx="12334723"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Goudy Old Style" panose="02020502050305020303" pitchFamily="18" charset="0"/>
              </a:rPr>
              <a:t>It looked at old comments, not new ones as they come in.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Goudy Old Style" panose="02020502050305020303" pitchFamily="18" charset="0"/>
              </a:rPr>
              <a:t>The study used only a small amount of data (1,500 sentences), so it might not work well on lots of different comments.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Goudy Old Style" panose="02020502050305020303" pitchFamily="18" charset="0"/>
              </a:rPr>
              <a:t>The data came from formal sentences, not from real YouTube comments that have slang and emojis.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Goudy Old Style" panose="02020502050305020303" pitchFamily="18" charset="0"/>
              </a:rPr>
              <a:t>It only understands English, not other languages.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Goudy Old Style" panose="02020502050305020303" pitchFamily="18" charset="0"/>
              </a:rPr>
              <a:t>It used old methods that might miss things like jokes or mixed feelings.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Goudy Old Style" panose="02020502050305020303" pitchFamily="18" charset="0"/>
              </a:rPr>
              <a:t>It used simple ways to understand words and didn’t try newer, smarter techniques.</a:t>
            </a:r>
          </a:p>
        </p:txBody>
      </p:sp>
    </p:spTree>
    <p:extLst>
      <p:ext uri="{BB962C8B-B14F-4D97-AF65-F5344CB8AC3E}">
        <p14:creationId xmlns:p14="http://schemas.microsoft.com/office/powerpoint/2010/main" val="3510998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663C096-6110-DF0D-A5F0-624AC1130FAA}"/>
              </a:ext>
            </a:extLst>
          </p:cNvPr>
          <p:cNvSpPr txBox="1"/>
          <p:nvPr/>
        </p:nvSpPr>
        <p:spPr>
          <a:xfrm>
            <a:off x="2765502" y="3116515"/>
            <a:ext cx="8285357" cy="1585049"/>
          </a:xfrm>
          <a:prstGeom prst="rect">
            <a:avLst/>
          </a:prstGeom>
          <a:noFill/>
        </p:spPr>
        <p:txBody>
          <a:bodyPr wrap="square" rtlCol="0">
            <a:spAutoFit/>
          </a:bodyPr>
          <a:lstStyle/>
          <a:p>
            <a:pPr algn="ctr"/>
            <a:r>
              <a:rPr lang="en-US" sz="9600" b="1" dirty="0">
                <a:latin typeface="Montserrat" panose="00000500000000000000" pitchFamily="2" charset="0"/>
              </a:rPr>
              <a:t>THANK </a:t>
            </a:r>
            <a:r>
              <a:rPr lang="en-US" sz="9700" b="1" dirty="0">
                <a:latin typeface="Montserrat" panose="00000500000000000000" pitchFamily="2" charset="0"/>
              </a:rPr>
              <a:t>YOU</a:t>
            </a:r>
            <a:r>
              <a:rPr lang="en-US" sz="9600" b="1" dirty="0">
                <a:latin typeface="Montserrat" panose="00000500000000000000" pitchFamily="2" charset="0"/>
              </a:rPr>
              <a:t>!</a:t>
            </a:r>
            <a:endParaRPr lang="en-IN" sz="9600" b="1" dirty="0">
              <a:latin typeface="Montserrat" panose="00000500000000000000" pitchFamily="2" charset="0"/>
            </a:endParaRPr>
          </a:p>
        </p:txBody>
      </p:sp>
    </p:spTree>
    <p:extLst>
      <p:ext uri="{BB962C8B-B14F-4D97-AF65-F5344CB8AC3E}">
        <p14:creationId xmlns:p14="http://schemas.microsoft.com/office/powerpoint/2010/main" val="1657183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142</TotalTime>
  <Words>564</Words>
  <Application>Microsoft Office PowerPoint</Application>
  <PresentationFormat>Custom</PresentationFormat>
  <Paragraphs>56</Paragraphs>
  <Slides>7</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Goudy Old Style</vt:lpstr>
      <vt:lpstr>Montserrat</vt:lpstr>
      <vt:lpstr>Heebo Light</vt:lpstr>
      <vt:lpstr>Century Gothic</vt:lpstr>
      <vt:lpstr>Arial</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kyasa gowtham</cp:lastModifiedBy>
  <cp:revision>12</cp:revision>
  <dcterms:created xsi:type="dcterms:W3CDTF">2025-08-05T13:29:40Z</dcterms:created>
  <dcterms:modified xsi:type="dcterms:W3CDTF">2025-08-06T10:18:52Z</dcterms:modified>
</cp:coreProperties>
</file>